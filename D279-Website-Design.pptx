
<file path=[Content_Types].xml><?xml version="1.0" encoding="utf-8"?>
<Types xmlns="http://schemas.openxmlformats.org/package/2006/content-types">
  <Default Extension="bin" ContentType="application/vnd.ms-office.activeX"/>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ctiveX/activeX1.xml" ContentType="application/vnd.ms-office.activeX+xml"/>
  <Override PartName="/ppt/activeX/activeX2.xml" ContentType="application/vnd.ms-office.activeX+xml"/>
  <Override PartName="/ppt/activeX/activeX3.xml" ContentType="application/vnd.ms-office.activeX+xml"/>
  <Override PartName="/ppt/activeX/activeX4.xml" ContentType="application/vnd.ms-office.activeX+xml"/>
  <Override PartName="/ppt/activeX/activeX5.xml" ContentType="application/vnd.ms-office.activeX+xml"/>
  <Override PartName="/ppt/activeX/activeX6.xml" ContentType="application/vnd.ms-office.activeX+xml"/>
  <Override PartName="/ppt/activeX/activeX7.xml" ContentType="application/vnd.ms-office.activeX+xml"/>
  <Override PartName="/ppt/activeX/activeX8.xml" ContentType="application/vnd.ms-office.activeX+xml"/>
  <Override PartName="/ppt/activeX/activeX9.xml" ContentType="application/vnd.ms-office.activeX+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2" r:id="rId3"/>
    <p:sldId id="263" r:id="rId4"/>
    <p:sldId id="264" r:id="rId5"/>
    <p:sldId id="265" r:id="rId6"/>
    <p:sldId id="266" r:id="rId7"/>
    <p:sldId id="267" r:id="rId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6767"/>
    <a:srgbClr val="003B6D"/>
    <a:srgbClr val="BDBDBD"/>
    <a:srgbClr val="66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activeX1.xml><?xml version="1.0" encoding="utf-8"?>
<ax:ocx xmlns:ax="http://schemas.microsoft.com/office/2006/activeX" xmlns:r="http://schemas.openxmlformats.org/officeDocument/2006/relationships" ax:classid="{8BD21D10-EC42-11CE-9E0D-00AA006002F3}" ax:persistence="persistStorage" r:id="rId1"/>
</file>

<file path=ppt/activeX/activeX2.xml><?xml version="1.0" encoding="utf-8"?>
<ax:ocx xmlns:ax="http://schemas.microsoft.com/office/2006/activeX" xmlns:r="http://schemas.openxmlformats.org/officeDocument/2006/relationships" ax:classid="{8BD21D10-EC42-11CE-9E0D-00AA006002F3}" ax:persistence="persistStorage" r:id="rId1"/>
</file>

<file path=ppt/activeX/activeX3.xml><?xml version="1.0" encoding="utf-8"?>
<ax:ocx xmlns:ax="http://schemas.microsoft.com/office/2006/activeX" xmlns:r="http://schemas.openxmlformats.org/officeDocument/2006/relationships" ax:classid="{8BD21D10-EC42-11CE-9E0D-00AA006002F3}" ax:persistence="persistStorage" r:id="rId1"/>
</file>

<file path=ppt/activeX/activeX4.xml><?xml version="1.0" encoding="utf-8"?>
<ax:ocx xmlns:ax="http://schemas.microsoft.com/office/2006/activeX" xmlns:r="http://schemas.openxmlformats.org/officeDocument/2006/relationships" ax:classid="{8BD21D10-EC42-11CE-9E0D-00AA006002F3}" ax:persistence="persistStorage" r:id="rId1"/>
</file>

<file path=ppt/activeX/activeX5.xml><?xml version="1.0" encoding="utf-8"?>
<ax:ocx xmlns:ax="http://schemas.microsoft.com/office/2006/activeX" xmlns:r="http://schemas.openxmlformats.org/officeDocument/2006/relationships" ax:classid="{8BD21D10-EC42-11CE-9E0D-00AA006002F3}" ax:persistence="persistStorage" r:id="rId1"/>
</file>

<file path=ppt/activeX/activeX6.xml><?xml version="1.0" encoding="utf-8"?>
<ax:ocx xmlns:ax="http://schemas.microsoft.com/office/2006/activeX" xmlns:r="http://schemas.openxmlformats.org/officeDocument/2006/relationships" ax:classid="{8BD21D10-EC42-11CE-9E0D-00AA006002F3}" ax:persistence="persistStorage" r:id="rId1"/>
</file>

<file path=ppt/activeX/activeX7.xml><?xml version="1.0" encoding="utf-8"?>
<ax:ocx xmlns:ax="http://schemas.microsoft.com/office/2006/activeX" xmlns:r="http://schemas.openxmlformats.org/officeDocument/2006/relationships" ax:classid="{8BD21D10-EC42-11CE-9E0D-00AA006002F3}" ax:persistence="persistStorage" r:id="rId1"/>
</file>

<file path=ppt/activeX/activeX8.xml><?xml version="1.0" encoding="utf-8"?>
<ax:ocx xmlns:ax="http://schemas.microsoft.com/office/2006/activeX" xmlns:r="http://schemas.openxmlformats.org/officeDocument/2006/relationships" ax:classid="{8BD21D10-EC42-11CE-9E0D-00AA006002F3}" ax:persistence="persistStorage" r:id="rId1"/>
</file>

<file path=ppt/activeX/activeX9.xml><?xml version="1.0" encoding="utf-8"?>
<ax:ocx xmlns:ax="http://schemas.microsoft.com/office/2006/activeX" xmlns:r="http://schemas.openxmlformats.org/officeDocument/2006/relationships" ax:classid="{8BD21D10-EC42-11CE-9E0D-00AA006002F3}" ax:persistence="persistStorage" r:id="rId1"/>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8F3C5F-FF8F-035F-4E99-C3D4C0603DE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3C7B4D72-D3EE-EB32-A7E9-ADBC4CA2416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4501C1F3-8F2F-4983-B318-867ADFFD8D05}" type="datetimeFigureOut">
              <a:rPr lang="en-US"/>
              <a:pPr>
                <a:defRPr/>
              </a:pPr>
              <a:t>2/14/2026</a:t>
            </a:fld>
            <a:endParaRPr lang="en-US"/>
          </a:p>
        </p:txBody>
      </p:sp>
      <p:sp>
        <p:nvSpPr>
          <p:cNvPr id="4" name="Slide Image Placeholder 3">
            <a:extLst>
              <a:ext uri="{FF2B5EF4-FFF2-40B4-BE49-F238E27FC236}">
                <a16:creationId xmlns:a16="http://schemas.microsoft.com/office/drawing/2014/main" id="{D7B21196-DA67-72D3-F338-9094D1E7FA26}"/>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79B5820-CAE2-2516-84EA-B76A5A4BA06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5938234-6B09-5749-2B93-A1DD777859F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80035330-C82B-17A3-83A0-BBD22252C8FA}"/>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F9D0B50B-F679-4783-BBB3-95728F19D50E}"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1FDB7E8F-E8E4-1332-E1CC-8709544097B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EEDF41DD-856F-221B-84DA-7EA7E26298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21508" name="Slide Number Placeholder 3">
            <a:extLst>
              <a:ext uri="{FF2B5EF4-FFF2-40B4-BE49-F238E27FC236}">
                <a16:creationId xmlns:a16="http://schemas.microsoft.com/office/drawing/2014/main" id="{8CD4C960-0802-01FB-E8BE-ADD7645E64C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0553AB9-FE2F-4132-B710-C128B406B5CC}" type="slidenum">
              <a:rPr lang="en-US" altLang="en-US"/>
              <a:pPr fontAlgn="base">
                <a:spcBef>
                  <a:spcPct val="0"/>
                </a:spcBef>
                <a:spcAft>
                  <a:spcPct val="0"/>
                </a:spcAft>
              </a:pPr>
              <a:t>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7E7284-F968-3EA3-DEE3-1D05A978F1C2}"/>
              </a:ext>
            </a:extLst>
          </p:cNvPr>
          <p:cNvSpPr>
            <a:spLocks noGrp="1"/>
          </p:cNvSpPr>
          <p:nvPr>
            <p:ph type="dt" sz="half" idx="10"/>
          </p:nvPr>
        </p:nvSpPr>
        <p:spPr/>
        <p:txBody>
          <a:bodyPr/>
          <a:lstStyle>
            <a:lvl1pPr>
              <a:defRPr/>
            </a:lvl1pPr>
          </a:lstStyle>
          <a:p>
            <a:pPr>
              <a:defRPr/>
            </a:pPr>
            <a:fld id="{B94D8664-7EA8-4BFB-90E2-641690810B7A}" type="datetimeFigureOut">
              <a:rPr lang="en-US"/>
              <a:pPr>
                <a:defRPr/>
              </a:pPr>
              <a:t>2/14/2026</a:t>
            </a:fld>
            <a:endParaRPr lang="en-US"/>
          </a:p>
        </p:txBody>
      </p:sp>
      <p:sp>
        <p:nvSpPr>
          <p:cNvPr id="5" name="Footer Placeholder 4">
            <a:extLst>
              <a:ext uri="{FF2B5EF4-FFF2-40B4-BE49-F238E27FC236}">
                <a16:creationId xmlns:a16="http://schemas.microsoft.com/office/drawing/2014/main" id="{467F796E-992C-79F8-663B-65BF18382FC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059C281-2B34-48FD-7A13-3C8ACC700F32}"/>
              </a:ext>
            </a:extLst>
          </p:cNvPr>
          <p:cNvSpPr>
            <a:spLocks noGrp="1"/>
          </p:cNvSpPr>
          <p:nvPr>
            <p:ph type="sldNum" sz="quarter" idx="12"/>
          </p:nvPr>
        </p:nvSpPr>
        <p:spPr/>
        <p:txBody>
          <a:bodyPr/>
          <a:lstStyle>
            <a:lvl1pPr>
              <a:defRPr/>
            </a:lvl1pPr>
          </a:lstStyle>
          <a:p>
            <a:pPr>
              <a:defRPr/>
            </a:pPr>
            <a:fld id="{4938F289-4B30-4938-8CFA-28208B0CFDCE}" type="slidenum">
              <a:rPr lang="en-US"/>
              <a:pPr>
                <a:defRPr/>
              </a:pPr>
              <a:t>‹#›</a:t>
            </a:fld>
            <a:endParaRPr lang="en-US"/>
          </a:p>
        </p:txBody>
      </p:sp>
    </p:spTree>
    <p:extLst>
      <p:ext uri="{BB962C8B-B14F-4D97-AF65-F5344CB8AC3E}">
        <p14:creationId xmlns:p14="http://schemas.microsoft.com/office/powerpoint/2010/main" val="416007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8ECADB-3AFA-16FB-F72E-74D6E1AE9708}"/>
              </a:ext>
            </a:extLst>
          </p:cNvPr>
          <p:cNvSpPr>
            <a:spLocks noGrp="1"/>
          </p:cNvSpPr>
          <p:nvPr>
            <p:ph type="dt" sz="half" idx="10"/>
          </p:nvPr>
        </p:nvSpPr>
        <p:spPr/>
        <p:txBody>
          <a:bodyPr/>
          <a:lstStyle>
            <a:lvl1pPr>
              <a:defRPr/>
            </a:lvl1pPr>
          </a:lstStyle>
          <a:p>
            <a:pPr>
              <a:defRPr/>
            </a:pPr>
            <a:fld id="{AFFBA343-D0F6-415F-8A20-18BF6DF69BB7}" type="datetimeFigureOut">
              <a:rPr lang="en-US"/>
              <a:pPr>
                <a:defRPr/>
              </a:pPr>
              <a:t>2/14/2026</a:t>
            </a:fld>
            <a:endParaRPr lang="en-US"/>
          </a:p>
        </p:txBody>
      </p:sp>
      <p:sp>
        <p:nvSpPr>
          <p:cNvPr id="5" name="Footer Placeholder 4">
            <a:extLst>
              <a:ext uri="{FF2B5EF4-FFF2-40B4-BE49-F238E27FC236}">
                <a16:creationId xmlns:a16="http://schemas.microsoft.com/office/drawing/2014/main" id="{600DCCF3-8F46-C7BC-A46B-24660100388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3028444-64A1-6174-E62A-030E66B7FAD6}"/>
              </a:ext>
            </a:extLst>
          </p:cNvPr>
          <p:cNvSpPr>
            <a:spLocks noGrp="1"/>
          </p:cNvSpPr>
          <p:nvPr>
            <p:ph type="sldNum" sz="quarter" idx="12"/>
          </p:nvPr>
        </p:nvSpPr>
        <p:spPr/>
        <p:txBody>
          <a:bodyPr/>
          <a:lstStyle>
            <a:lvl1pPr>
              <a:defRPr/>
            </a:lvl1pPr>
          </a:lstStyle>
          <a:p>
            <a:pPr>
              <a:defRPr/>
            </a:pPr>
            <a:fld id="{37ACB6D1-0197-4528-8EC9-FB01C68A6AC6}" type="slidenum">
              <a:rPr lang="en-US"/>
              <a:pPr>
                <a:defRPr/>
              </a:pPr>
              <a:t>‹#›</a:t>
            </a:fld>
            <a:endParaRPr lang="en-US"/>
          </a:p>
        </p:txBody>
      </p:sp>
    </p:spTree>
    <p:extLst>
      <p:ext uri="{BB962C8B-B14F-4D97-AF65-F5344CB8AC3E}">
        <p14:creationId xmlns:p14="http://schemas.microsoft.com/office/powerpoint/2010/main" val="1742264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AD6EF-0396-702A-1FC1-F0308C6A625F}"/>
              </a:ext>
            </a:extLst>
          </p:cNvPr>
          <p:cNvSpPr>
            <a:spLocks noGrp="1"/>
          </p:cNvSpPr>
          <p:nvPr>
            <p:ph type="dt" sz="half" idx="10"/>
          </p:nvPr>
        </p:nvSpPr>
        <p:spPr/>
        <p:txBody>
          <a:bodyPr/>
          <a:lstStyle>
            <a:lvl1pPr>
              <a:defRPr/>
            </a:lvl1pPr>
          </a:lstStyle>
          <a:p>
            <a:pPr>
              <a:defRPr/>
            </a:pPr>
            <a:fld id="{810D28F1-22A7-4DB1-A79B-CDDA5F1D0FA4}" type="datetimeFigureOut">
              <a:rPr lang="en-US"/>
              <a:pPr>
                <a:defRPr/>
              </a:pPr>
              <a:t>2/14/2026</a:t>
            </a:fld>
            <a:endParaRPr lang="en-US"/>
          </a:p>
        </p:txBody>
      </p:sp>
      <p:sp>
        <p:nvSpPr>
          <p:cNvPr id="5" name="Footer Placeholder 4">
            <a:extLst>
              <a:ext uri="{FF2B5EF4-FFF2-40B4-BE49-F238E27FC236}">
                <a16:creationId xmlns:a16="http://schemas.microsoft.com/office/drawing/2014/main" id="{64B93B93-B100-61AA-3811-06054A6091C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660747E-D56D-673D-C1E9-0285BD023E28}"/>
              </a:ext>
            </a:extLst>
          </p:cNvPr>
          <p:cNvSpPr>
            <a:spLocks noGrp="1"/>
          </p:cNvSpPr>
          <p:nvPr>
            <p:ph type="sldNum" sz="quarter" idx="12"/>
          </p:nvPr>
        </p:nvSpPr>
        <p:spPr/>
        <p:txBody>
          <a:bodyPr/>
          <a:lstStyle>
            <a:lvl1pPr>
              <a:defRPr/>
            </a:lvl1pPr>
          </a:lstStyle>
          <a:p>
            <a:pPr>
              <a:defRPr/>
            </a:pPr>
            <a:fld id="{176CEF14-DC85-4B31-9F1D-8C8B4DC26E4F}" type="slidenum">
              <a:rPr lang="en-US"/>
              <a:pPr>
                <a:defRPr/>
              </a:pPr>
              <a:t>‹#›</a:t>
            </a:fld>
            <a:endParaRPr lang="en-US"/>
          </a:p>
        </p:txBody>
      </p:sp>
    </p:spTree>
    <p:extLst>
      <p:ext uri="{BB962C8B-B14F-4D97-AF65-F5344CB8AC3E}">
        <p14:creationId xmlns:p14="http://schemas.microsoft.com/office/powerpoint/2010/main" val="3024823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1C0299-9847-F2F0-0B25-B19D6BB3569A}"/>
              </a:ext>
            </a:extLst>
          </p:cNvPr>
          <p:cNvSpPr>
            <a:spLocks noGrp="1"/>
          </p:cNvSpPr>
          <p:nvPr>
            <p:ph type="dt" sz="half" idx="10"/>
          </p:nvPr>
        </p:nvSpPr>
        <p:spPr/>
        <p:txBody>
          <a:bodyPr/>
          <a:lstStyle>
            <a:lvl1pPr>
              <a:defRPr/>
            </a:lvl1pPr>
          </a:lstStyle>
          <a:p>
            <a:pPr>
              <a:defRPr/>
            </a:pPr>
            <a:fld id="{177D76B2-240B-417C-AA11-7CF90C79CE75}" type="datetimeFigureOut">
              <a:rPr lang="en-US"/>
              <a:pPr>
                <a:defRPr/>
              </a:pPr>
              <a:t>2/14/2026</a:t>
            </a:fld>
            <a:endParaRPr lang="en-US"/>
          </a:p>
        </p:txBody>
      </p:sp>
      <p:sp>
        <p:nvSpPr>
          <p:cNvPr id="6" name="Footer Placeholder 5">
            <a:extLst>
              <a:ext uri="{FF2B5EF4-FFF2-40B4-BE49-F238E27FC236}">
                <a16:creationId xmlns:a16="http://schemas.microsoft.com/office/drawing/2014/main" id="{CB416D51-4787-032B-19C1-257BB9F9321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E166065B-D6DF-ED95-2AA6-89A6327C96EC}"/>
              </a:ext>
            </a:extLst>
          </p:cNvPr>
          <p:cNvSpPr>
            <a:spLocks noGrp="1"/>
          </p:cNvSpPr>
          <p:nvPr>
            <p:ph type="sldNum" sz="quarter" idx="12"/>
          </p:nvPr>
        </p:nvSpPr>
        <p:spPr/>
        <p:txBody>
          <a:bodyPr/>
          <a:lstStyle>
            <a:lvl1pPr>
              <a:defRPr/>
            </a:lvl1pPr>
          </a:lstStyle>
          <a:p>
            <a:pPr>
              <a:defRPr/>
            </a:pPr>
            <a:fld id="{FA5963CA-E98A-4C42-9F25-D37B56E6393B}" type="slidenum">
              <a:rPr lang="en-US"/>
              <a:pPr>
                <a:defRPr/>
              </a:pPr>
              <a:t>‹#›</a:t>
            </a:fld>
            <a:endParaRPr lang="en-US"/>
          </a:p>
        </p:txBody>
      </p:sp>
    </p:spTree>
    <p:extLst>
      <p:ext uri="{BB962C8B-B14F-4D97-AF65-F5344CB8AC3E}">
        <p14:creationId xmlns:p14="http://schemas.microsoft.com/office/powerpoint/2010/main" val="1884444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705539-0E4C-7D0A-E2E6-97BA59A48E9E}"/>
              </a:ext>
            </a:extLst>
          </p:cNvPr>
          <p:cNvSpPr>
            <a:spLocks noGrp="1"/>
          </p:cNvSpPr>
          <p:nvPr>
            <p:ph type="dt" sz="half" idx="10"/>
          </p:nvPr>
        </p:nvSpPr>
        <p:spPr/>
        <p:txBody>
          <a:bodyPr/>
          <a:lstStyle>
            <a:lvl1pPr>
              <a:defRPr/>
            </a:lvl1pPr>
          </a:lstStyle>
          <a:p>
            <a:pPr>
              <a:defRPr/>
            </a:pPr>
            <a:fld id="{36C4C58A-29D3-448E-A80F-65A89C8034B2}" type="datetimeFigureOut">
              <a:rPr lang="en-US"/>
              <a:pPr>
                <a:defRPr/>
              </a:pPr>
              <a:t>2/14/2026</a:t>
            </a:fld>
            <a:endParaRPr lang="en-US"/>
          </a:p>
        </p:txBody>
      </p:sp>
      <p:sp>
        <p:nvSpPr>
          <p:cNvPr id="8" name="Footer Placeholder 7">
            <a:extLst>
              <a:ext uri="{FF2B5EF4-FFF2-40B4-BE49-F238E27FC236}">
                <a16:creationId xmlns:a16="http://schemas.microsoft.com/office/drawing/2014/main" id="{CE05C717-842C-887F-9A21-5DC2D8BEC27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F888A493-EC67-6242-F1D8-CFEC38A0C28B}"/>
              </a:ext>
            </a:extLst>
          </p:cNvPr>
          <p:cNvSpPr>
            <a:spLocks noGrp="1"/>
          </p:cNvSpPr>
          <p:nvPr>
            <p:ph type="sldNum" sz="quarter" idx="12"/>
          </p:nvPr>
        </p:nvSpPr>
        <p:spPr/>
        <p:txBody>
          <a:bodyPr/>
          <a:lstStyle>
            <a:lvl1pPr>
              <a:defRPr/>
            </a:lvl1pPr>
          </a:lstStyle>
          <a:p>
            <a:pPr>
              <a:defRPr/>
            </a:pPr>
            <a:fld id="{9A2855B3-E15A-4019-8376-8CACDED68B4B}" type="slidenum">
              <a:rPr lang="en-US"/>
              <a:pPr>
                <a:defRPr/>
              </a:pPr>
              <a:t>‹#›</a:t>
            </a:fld>
            <a:endParaRPr lang="en-US"/>
          </a:p>
        </p:txBody>
      </p:sp>
    </p:spTree>
    <p:extLst>
      <p:ext uri="{BB962C8B-B14F-4D97-AF65-F5344CB8AC3E}">
        <p14:creationId xmlns:p14="http://schemas.microsoft.com/office/powerpoint/2010/main" val="2402205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5583DD-4E1E-D288-71EF-21BB1D8FBD65}"/>
              </a:ext>
            </a:extLst>
          </p:cNvPr>
          <p:cNvSpPr>
            <a:spLocks noGrp="1"/>
          </p:cNvSpPr>
          <p:nvPr>
            <p:ph type="dt" sz="half" idx="10"/>
          </p:nvPr>
        </p:nvSpPr>
        <p:spPr/>
        <p:txBody>
          <a:bodyPr/>
          <a:lstStyle>
            <a:lvl1pPr>
              <a:defRPr/>
            </a:lvl1pPr>
          </a:lstStyle>
          <a:p>
            <a:pPr>
              <a:defRPr/>
            </a:pPr>
            <a:fld id="{61DBF95A-D9EA-4209-BF5D-FE4C1782BF23}" type="datetimeFigureOut">
              <a:rPr lang="en-US"/>
              <a:pPr>
                <a:defRPr/>
              </a:pPr>
              <a:t>2/14/2026</a:t>
            </a:fld>
            <a:endParaRPr lang="en-US"/>
          </a:p>
        </p:txBody>
      </p:sp>
      <p:sp>
        <p:nvSpPr>
          <p:cNvPr id="4" name="Footer Placeholder 3">
            <a:extLst>
              <a:ext uri="{FF2B5EF4-FFF2-40B4-BE49-F238E27FC236}">
                <a16:creationId xmlns:a16="http://schemas.microsoft.com/office/drawing/2014/main" id="{473E8D6C-B7A4-DB73-04BC-1DF843D4FAD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662F4C88-C124-C856-565E-099904D9D3EA}"/>
              </a:ext>
            </a:extLst>
          </p:cNvPr>
          <p:cNvSpPr>
            <a:spLocks noGrp="1"/>
          </p:cNvSpPr>
          <p:nvPr>
            <p:ph type="sldNum" sz="quarter" idx="12"/>
          </p:nvPr>
        </p:nvSpPr>
        <p:spPr/>
        <p:txBody>
          <a:bodyPr/>
          <a:lstStyle>
            <a:lvl1pPr>
              <a:defRPr/>
            </a:lvl1pPr>
          </a:lstStyle>
          <a:p>
            <a:pPr>
              <a:defRPr/>
            </a:pPr>
            <a:fld id="{7B122DB0-DB2A-431F-9DDD-BF3C3EF8823F}" type="slidenum">
              <a:rPr lang="en-US"/>
              <a:pPr>
                <a:defRPr/>
              </a:pPr>
              <a:t>‹#›</a:t>
            </a:fld>
            <a:endParaRPr lang="en-US"/>
          </a:p>
        </p:txBody>
      </p:sp>
    </p:spTree>
    <p:extLst>
      <p:ext uri="{BB962C8B-B14F-4D97-AF65-F5344CB8AC3E}">
        <p14:creationId xmlns:p14="http://schemas.microsoft.com/office/powerpoint/2010/main" val="139916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D6A934-2C79-24C4-9800-7E088B17AFCE}"/>
              </a:ext>
            </a:extLst>
          </p:cNvPr>
          <p:cNvSpPr>
            <a:spLocks noGrp="1"/>
          </p:cNvSpPr>
          <p:nvPr>
            <p:ph type="dt" sz="half" idx="10"/>
          </p:nvPr>
        </p:nvSpPr>
        <p:spPr/>
        <p:txBody>
          <a:bodyPr/>
          <a:lstStyle>
            <a:lvl1pPr>
              <a:defRPr/>
            </a:lvl1pPr>
          </a:lstStyle>
          <a:p>
            <a:pPr>
              <a:defRPr/>
            </a:pPr>
            <a:fld id="{BCCAF81E-2AB6-4466-B2DD-49E6CB921C97}" type="datetimeFigureOut">
              <a:rPr lang="en-US"/>
              <a:pPr>
                <a:defRPr/>
              </a:pPr>
              <a:t>2/14/2026</a:t>
            </a:fld>
            <a:endParaRPr lang="en-US"/>
          </a:p>
        </p:txBody>
      </p:sp>
      <p:sp>
        <p:nvSpPr>
          <p:cNvPr id="3" name="Footer Placeholder 2">
            <a:extLst>
              <a:ext uri="{FF2B5EF4-FFF2-40B4-BE49-F238E27FC236}">
                <a16:creationId xmlns:a16="http://schemas.microsoft.com/office/drawing/2014/main" id="{80C995F2-B00C-A925-950D-9AFDF061E47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C8EA9586-9D2F-8652-511C-8329B61CE57D}"/>
              </a:ext>
            </a:extLst>
          </p:cNvPr>
          <p:cNvSpPr>
            <a:spLocks noGrp="1"/>
          </p:cNvSpPr>
          <p:nvPr>
            <p:ph type="sldNum" sz="quarter" idx="12"/>
          </p:nvPr>
        </p:nvSpPr>
        <p:spPr/>
        <p:txBody>
          <a:bodyPr/>
          <a:lstStyle>
            <a:lvl1pPr>
              <a:defRPr/>
            </a:lvl1pPr>
          </a:lstStyle>
          <a:p>
            <a:pPr>
              <a:defRPr/>
            </a:pPr>
            <a:fld id="{24BFFDF5-0F91-4DFD-8A3A-34D454B66F51}" type="slidenum">
              <a:rPr lang="en-US"/>
              <a:pPr>
                <a:defRPr/>
              </a:pPr>
              <a:t>‹#›</a:t>
            </a:fld>
            <a:endParaRPr lang="en-US"/>
          </a:p>
        </p:txBody>
      </p:sp>
    </p:spTree>
    <p:extLst>
      <p:ext uri="{BB962C8B-B14F-4D97-AF65-F5344CB8AC3E}">
        <p14:creationId xmlns:p14="http://schemas.microsoft.com/office/powerpoint/2010/main" val="1234742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1FB012-B8B8-15BD-4B28-F8108EE6DA5A}"/>
              </a:ext>
            </a:extLst>
          </p:cNvPr>
          <p:cNvSpPr>
            <a:spLocks noGrp="1"/>
          </p:cNvSpPr>
          <p:nvPr>
            <p:ph type="dt" sz="half" idx="10"/>
          </p:nvPr>
        </p:nvSpPr>
        <p:spPr/>
        <p:txBody>
          <a:bodyPr/>
          <a:lstStyle>
            <a:lvl1pPr>
              <a:defRPr/>
            </a:lvl1pPr>
          </a:lstStyle>
          <a:p>
            <a:pPr>
              <a:defRPr/>
            </a:pPr>
            <a:fld id="{D4070EF9-357F-42A9-96B5-754672310BFD}" type="datetimeFigureOut">
              <a:rPr lang="en-US"/>
              <a:pPr>
                <a:defRPr/>
              </a:pPr>
              <a:t>2/14/2026</a:t>
            </a:fld>
            <a:endParaRPr lang="en-US"/>
          </a:p>
        </p:txBody>
      </p:sp>
      <p:sp>
        <p:nvSpPr>
          <p:cNvPr id="6" name="Footer Placeholder 5">
            <a:extLst>
              <a:ext uri="{FF2B5EF4-FFF2-40B4-BE49-F238E27FC236}">
                <a16:creationId xmlns:a16="http://schemas.microsoft.com/office/drawing/2014/main" id="{1039699F-8E08-B367-6E4A-FD5C64314B0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09F5A076-5056-6DC8-3FED-5F3BE5A092A6}"/>
              </a:ext>
            </a:extLst>
          </p:cNvPr>
          <p:cNvSpPr>
            <a:spLocks noGrp="1"/>
          </p:cNvSpPr>
          <p:nvPr>
            <p:ph type="sldNum" sz="quarter" idx="12"/>
          </p:nvPr>
        </p:nvSpPr>
        <p:spPr/>
        <p:txBody>
          <a:bodyPr/>
          <a:lstStyle>
            <a:lvl1pPr>
              <a:defRPr/>
            </a:lvl1pPr>
          </a:lstStyle>
          <a:p>
            <a:pPr>
              <a:defRPr/>
            </a:pPr>
            <a:fld id="{4EF7564D-C7CA-4C52-948F-DEEC617FD737}" type="slidenum">
              <a:rPr lang="en-US"/>
              <a:pPr>
                <a:defRPr/>
              </a:pPr>
              <a:t>‹#›</a:t>
            </a:fld>
            <a:endParaRPr lang="en-US"/>
          </a:p>
        </p:txBody>
      </p:sp>
    </p:spTree>
    <p:extLst>
      <p:ext uri="{BB962C8B-B14F-4D97-AF65-F5344CB8AC3E}">
        <p14:creationId xmlns:p14="http://schemas.microsoft.com/office/powerpoint/2010/main" val="584557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2526BE-BD14-E2FC-EA2C-6546671E8232}"/>
              </a:ext>
            </a:extLst>
          </p:cNvPr>
          <p:cNvSpPr>
            <a:spLocks noGrp="1"/>
          </p:cNvSpPr>
          <p:nvPr>
            <p:ph type="dt" sz="half" idx="10"/>
          </p:nvPr>
        </p:nvSpPr>
        <p:spPr/>
        <p:txBody>
          <a:bodyPr/>
          <a:lstStyle>
            <a:lvl1pPr>
              <a:defRPr/>
            </a:lvl1pPr>
          </a:lstStyle>
          <a:p>
            <a:pPr>
              <a:defRPr/>
            </a:pPr>
            <a:fld id="{F5707351-2358-49DB-9213-5349BD771BD7}" type="datetimeFigureOut">
              <a:rPr lang="en-US"/>
              <a:pPr>
                <a:defRPr/>
              </a:pPr>
              <a:t>2/14/2026</a:t>
            </a:fld>
            <a:endParaRPr lang="en-US"/>
          </a:p>
        </p:txBody>
      </p:sp>
      <p:sp>
        <p:nvSpPr>
          <p:cNvPr id="6" name="Footer Placeholder 5">
            <a:extLst>
              <a:ext uri="{FF2B5EF4-FFF2-40B4-BE49-F238E27FC236}">
                <a16:creationId xmlns:a16="http://schemas.microsoft.com/office/drawing/2014/main" id="{0F9D8FEC-013F-D132-DBE8-2A3063D299E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0FBE957F-5919-A78A-C102-A65C45546FCE}"/>
              </a:ext>
            </a:extLst>
          </p:cNvPr>
          <p:cNvSpPr>
            <a:spLocks noGrp="1"/>
          </p:cNvSpPr>
          <p:nvPr>
            <p:ph type="sldNum" sz="quarter" idx="12"/>
          </p:nvPr>
        </p:nvSpPr>
        <p:spPr/>
        <p:txBody>
          <a:bodyPr/>
          <a:lstStyle>
            <a:lvl1pPr>
              <a:defRPr/>
            </a:lvl1pPr>
          </a:lstStyle>
          <a:p>
            <a:pPr>
              <a:defRPr/>
            </a:pPr>
            <a:fld id="{004FB6B8-8CCA-4607-B47A-DE091A867080}" type="slidenum">
              <a:rPr lang="en-US"/>
              <a:pPr>
                <a:defRPr/>
              </a:pPr>
              <a:t>‹#›</a:t>
            </a:fld>
            <a:endParaRPr lang="en-US"/>
          </a:p>
        </p:txBody>
      </p:sp>
    </p:spTree>
    <p:extLst>
      <p:ext uri="{BB962C8B-B14F-4D97-AF65-F5344CB8AC3E}">
        <p14:creationId xmlns:p14="http://schemas.microsoft.com/office/powerpoint/2010/main" val="433874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EF8900-A2FC-506B-C503-593A67FC6919}"/>
              </a:ext>
            </a:extLst>
          </p:cNvPr>
          <p:cNvSpPr>
            <a:spLocks noGrp="1"/>
          </p:cNvSpPr>
          <p:nvPr>
            <p:ph type="dt" sz="half" idx="10"/>
          </p:nvPr>
        </p:nvSpPr>
        <p:spPr/>
        <p:txBody>
          <a:bodyPr/>
          <a:lstStyle>
            <a:lvl1pPr>
              <a:defRPr/>
            </a:lvl1pPr>
          </a:lstStyle>
          <a:p>
            <a:pPr>
              <a:defRPr/>
            </a:pPr>
            <a:fld id="{65011744-7C45-457F-95C5-9345D679DC96}" type="datetimeFigureOut">
              <a:rPr lang="en-US"/>
              <a:pPr>
                <a:defRPr/>
              </a:pPr>
              <a:t>2/14/2026</a:t>
            </a:fld>
            <a:endParaRPr lang="en-US"/>
          </a:p>
        </p:txBody>
      </p:sp>
      <p:sp>
        <p:nvSpPr>
          <p:cNvPr id="5" name="Footer Placeholder 4">
            <a:extLst>
              <a:ext uri="{FF2B5EF4-FFF2-40B4-BE49-F238E27FC236}">
                <a16:creationId xmlns:a16="http://schemas.microsoft.com/office/drawing/2014/main" id="{6C56F638-1A03-E017-A7B0-0C1881ED90B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5C1CDCA-3438-ECDD-4ED6-103B055F06ED}"/>
              </a:ext>
            </a:extLst>
          </p:cNvPr>
          <p:cNvSpPr>
            <a:spLocks noGrp="1"/>
          </p:cNvSpPr>
          <p:nvPr>
            <p:ph type="sldNum" sz="quarter" idx="12"/>
          </p:nvPr>
        </p:nvSpPr>
        <p:spPr/>
        <p:txBody>
          <a:bodyPr/>
          <a:lstStyle>
            <a:lvl1pPr>
              <a:defRPr/>
            </a:lvl1pPr>
          </a:lstStyle>
          <a:p>
            <a:pPr>
              <a:defRPr/>
            </a:pPr>
            <a:fld id="{C9520033-D1CF-4F23-BBD0-1B44A282151B}" type="slidenum">
              <a:rPr lang="en-US"/>
              <a:pPr>
                <a:defRPr/>
              </a:pPr>
              <a:t>‹#›</a:t>
            </a:fld>
            <a:endParaRPr lang="en-US"/>
          </a:p>
        </p:txBody>
      </p:sp>
    </p:spTree>
    <p:extLst>
      <p:ext uri="{BB962C8B-B14F-4D97-AF65-F5344CB8AC3E}">
        <p14:creationId xmlns:p14="http://schemas.microsoft.com/office/powerpoint/2010/main" val="378924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7CE57A-9ACE-0A1A-B976-02C91DD7BECA}"/>
              </a:ext>
            </a:extLst>
          </p:cNvPr>
          <p:cNvSpPr>
            <a:spLocks noGrp="1"/>
          </p:cNvSpPr>
          <p:nvPr>
            <p:ph type="dt" sz="half" idx="10"/>
          </p:nvPr>
        </p:nvSpPr>
        <p:spPr/>
        <p:txBody>
          <a:bodyPr/>
          <a:lstStyle>
            <a:lvl1pPr>
              <a:defRPr/>
            </a:lvl1pPr>
          </a:lstStyle>
          <a:p>
            <a:pPr>
              <a:defRPr/>
            </a:pPr>
            <a:fld id="{46532C07-88C6-4EAF-ACBE-FFC230F7E3C0}" type="datetimeFigureOut">
              <a:rPr lang="en-US"/>
              <a:pPr>
                <a:defRPr/>
              </a:pPr>
              <a:t>2/14/2026</a:t>
            </a:fld>
            <a:endParaRPr lang="en-US"/>
          </a:p>
        </p:txBody>
      </p:sp>
      <p:sp>
        <p:nvSpPr>
          <p:cNvPr id="5" name="Footer Placeholder 4">
            <a:extLst>
              <a:ext uri="{FF2B5EF4-FFF2-40B4-BE49-F238E27FC236}">
                <a16:creationId xmlns:a16="http://schemas.microsoft.com/office/drawing/2014/main" id="{D74AEE5A-53BD-5426-45CA-8204B6E6229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B0208D4-50FA-A9CB-74E8-79F851FE9579}"/>
              </a:ext>
            </a:extLst>
          </p:cNvPr>
          <p:cNvSpPr>
            <a:spLocks noGrp="1"/>
          </p:cNvSpPr>
          <p:nvPr>
            <p:ph type="sldNum" sz="quarter" idx="12"/>
          </p:nvPr>
        </p:nvSpPr>
        <p:spPr/>
        <p:txBody>
          <a:bodyPr/>
          <a:lstStyle>
            <a:lvl1pPr>
              <a:defRPr/>
            </a:lvl1pPr>
          </a:lstStyle>
          <a:p>
            <a:pPr>
              <a:defRPr/>
            </a:pPr>
            <a:fld id="{060A9016-4FFE-486D-8AC7-5EEECC1071DA}" type="slidenum">
              <a:rPr lang="en-US"/>
              <a:pPr>
                <a:defRPr/>
              </a:pPr>
              <a:t>‹#›</a:t>
            </a:fld>
            <a:endParaRPr lang="en-US"/>
          </a:p>
        </p:txBody>
      </p:sp>
    </p:spTree>
    <p:extLst>
      <p:ext uri="{BB962C8B-B14F-4D97-AF65-F5344CB8AC3E}">
        <p14:creationId xmlns:p14="http://schemas.microsoft.com/office/powerpoint/2010/main" val="1900012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9DF3AEF-BFFE-E247-7245-3AC24EAA6FD1}"/>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98B2D95-F79E-3507-EE2D-DA5BF379A8FE}"/>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767996A-6AF4-3A8C-7E02-4D6578F7BC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D2BD8C89-C547-4390-BCCD-C098489CB9FB}" type="datetimeFigureOut">
              <a:rPr lang="en-US"/>
              <a:pPr>
                <a:defRPr/>
              </a:pPr>
              <a:t>2/14/2026</a:t>
            </a:fld>
            <a:endParaRPr lang="en-US"/>
          </a:p>
        </p:txBody>
      </p:sp>
      <p:sp>
        <p:nvSpPr>
          <p:cNvPr id="5" name="Footer Placeholder 4">
            <a:extLst>
              <a:ext uri="{FF2B5EF4-FFF2-40B4-BE49-F238E27FC236}">
                <a16:creationId xmlns:a16="http://schemas.microsoft.com/office/drawing/2014/main" id="{27535225-3629-740F-34D2-431A33B28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EA3EE2F6-13F9-E471-EDF5-473E7F7C01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C828120F-1AD5-4190-AC47-BA390827656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hyperlink" Target="https://www.sterlingshelter.org/humane-society/koi-fish-rescue/" TargetMode="External"/><Relationship Id="rId18" Type="http://schemas.openxmlformats.org/officeDocument/2006/relationships/image" Target="../media/image5.jpg"/><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hyperlink" Target="https://www.aspca.org/" TargetMode="External"/><Relationship Id="rId17" Type="http://schemas.openxmlformats.org/officeDocument/2006/relationships/image" Target="../media/image4.jpeg"/><Relationship Id="rId2" Type="http://schemas.openxmlformats.org/officeDocument/2006/relationships/image" Target="../media/image1.png"/><Relationship Id="rId16" Type="http://schemas.openxmlformats.org/officeDocument/2006/relationships/image" Target="../media/image3.jp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hyperlink" Target="https://home-home.org/" TargetMode="External"/><Relationship Id="rId5" Type="http://schemas.openxmlformats.org/officeDocument/2006/relationships/slide" Target="slide3.xml"/><Relationship Id="rId15" Type="http://schemas.openxmlformats.org/officeDocument/2006/relationships/hyperlink" Target="https://ftlob.rescuegroups.org/" TargetMode="External"/><Relationship Id="rId10" Type="http://schemas.openxmlformats.org/officeDocument/2006/relationships/image" Target="../media/image2.jpeg"/><Relationship Id="rId19" Type="http://schemas.openxmlformats.org/officeDocument/2006/relationships/image" Target="../media/image6.png"/><Relationship Id="rId4" Type="http://schemas.openxmlformats.org/officeDocument/2006/relationships/slide" Target="slide2.xml"/><Relationship Id="rId9" Type="http://schemas.openxmlformats.org/officeDocument/2006/relationships/slide" Target="slide6.xml"/><Relationship Id="rId14" Type="http://schemas.openxmlformats.org/officeDocument/2006/relationships/hyperlink" Target="https://savethesnakes.org/snakerescuecall/" TargetMode="Externa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hyperlink" Target="https://www.aspca.org/pet-care/dog-care/dog-nutrition-tips" TargetMode="External"/><Relationship Id="rId3" Type="http://schemas.openxmlformats.org/officeDocument/2006/relationships/slide" Target="slide1.xml"/><Relationship Id="rId7" Type="http://schemas.openxmlformats.org/officeDocument/2006/relationships/slide" Target="slide7.xml"/><Relationship Id="rId12" Type="http://schemas.openxmlformats.org/officeDocument/2006/relationships/hyperlink" Target="https://www.ahajournals.org/doi/10.1161/CIRCOUTCOMES.119.005554"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image" Target="../media/image9.jpeg"/><Relationship Id="rId5" Type="http://schemas.openxmlformats.org/officeDocument/2006/relationships/slide" Target="slide4.xml"/><Relationship Id="rId10" Type="http://schemas.openxmlformats.org/officeDocument/2006/relationships/image" Target="../media/image8.jpeg"/><Relationship Id="rId4" Type="http://schemas.openxmlformats.org/officeDocument/2006/relationships/slide" Target="slide3.xml"/><Relationship Id="rId9" Type="http://schemas.openxmlformats.org/officeDocument/2006/relationships/image" Target="../media/image2.jpeg"/><Relationship Id="rId14" Type="http://schemas.openxmlformats.org/officeDocument/2006/relationships/hyperlink" Target="https://www.aspca.org/pet-care/general-pet-care/vaccinations-your-pet" TargetMode="External"/></Relationships>
</file>

<file path=ppt/slides/_rels/slide3.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7.xml"/><Relationship Id="rId12" Type="http://schemas.openxmlformats.org/officeDocument/2006/relationships/hyperlink" Target="https://www.aspca.org/pet-care/cat-care/cat-nutrition-tips"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image" Target="../media/image11.jpeg"/><Relationship Id="rId5" Type="http://schemas.openxmlformats.org/officeDocument/2006/relationships/slide" Target="slide4.xml"/><Relationship Id="rId10" Type="http://schemas.openxmlformats.org/officeDocument/2006/relationships/image" Target="../media/image10.jpeg"/><Relationship Id="rId4" Type="http://schemas.openxmlformats.org/officeDocument/2006/relationships/slide" Target="slide2.xml"/><Relationship Id="rId9"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7.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image" Target="../media/image12.jpeg"/><Relationship Id="rId5" Type="http://schemas.openxmlformats.org/officeDocument/2006/relationships/slide" Target="slide3.xml"/><Relationship Id="rId10" Type="http://schemas.openxmlformats.org/officeDocument/2006/relationships/image" Target="../media/image5.jpg"/><Relationship Id="rId4" Type="http://schemas.openxmlformats.org/officeDocument/2006/relationships/slide" Target="slide2.xml"/><Relationship Id="rId9"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control" Target="../activeX/activeX8.xml"/><Relationship Id="rId13" Type="http://schemas.openxmlformats.org/officeDocument/2006/relationships/slide" Target="slide2.xml"/><Relationship Id="rId18" Type="http://schemas.openxmlformats.org/officeDocument/2006/relationships/slide" Target="slide6.xml"/><Relationship Id="rId3" Type="http://schemas.openxmlformats.org/officeDocument/2006/relationships/control" Target="../activeX/activeX3.xml"/><Relationship Id="rId21" Type="http://schemas.openxmlformats.org/officeDocument/2006/relationships/image" Target="../media/image14.wmf"/><Relationship Id="rId7" Type="http://schemas.openxmlformats.org/officeDocument/2006/relationships/control" Target="../activeX/activeX7.xml"/><Relationship Id="rId12" Type="http://schemas.openxmlformats.org/officeDocument/2006/relationships/slide" Target="slide1.xml"/><Relationship Id="rId17" Type="http://schemas.openxmlformats.org/officeDocument/2006/relationships/slide" Target="slide7.xml"/><Relationship Id="rId25" Type="http://schemas.openxmlformats.org/officeDocument/2006/relationships/image" Target="../media/image18.wmf"/><Relationship Id="rId2" Type="http://schemas.openxmlformats.org/officeDocument/2006/relationships/control" Target="../activeX/activeX2.xml"/><Relationship Id="rId16" Type="http://schemas.openxmlformats.org/officeDocument/2006/relationships/slide" Target="slide5.xml"/><Relationship Id="rId20" Type="http://schemas.openxmlformats.org/officeDocument/2006/relationships/image" Target="../media/image13.png"/><Relationship Id="rId1" Type="http://schemas.openxmlformats.org/officeDocument/2006/relationships/control" Target="../activeX/activeX1.xml"/><Relationship Id="rId6" Type="http://schemas.openxmlformats.org/officeDocument/2006/relationships/control" Target="../activeX/activeX6.xml"/><Relationship Id="rId11" Type="http://schemas.openxmlformats.org/officeDocument/2006/relationships/image" Target="../media/image1.png"/><Relationship Id="rId24" Type="http://schemas.openxmlformats.org/officeDocument/2006/relationships/image" Target="../media/image17.wmf"/><Relationship Id="rId5" Type="http://schemas.openxmlformats.org/officeDocument/2006/relationships/control" Target="../activeX/activeX5.xml"/><Relationship Id="rId15" Type="http://schemas.openxmlformats.org/officeDocument/2006/relationships/slide" Target="slide4.xml"/><Relationship Id="rId23" Type="http://schemas.openxmlformats.org/officeDocument/2006/relationships/image" Target="../media/image16.wmf"/><Relationship Id="rId10" Type="http://schemas.openxmlformats.org/officeDocument/2006/relationships/slideLayout" Target="../slideLayouts/slideLayout1.xml"/><Relationship Id="rId19" Type="http://schemas.openxmlformats.org/officeDocument/2006/relationships/image" Target="../media/image2.jpeg"/><Relationship Id="rId4" Type="http://schemas.openxmlformats.org/officeDocument/2006/relationships/control" Target="../activeX/activeX4.xml"/><Relationship Id="rId9" Type="http://schemas.openxmlformats.org/officeDocument/2006/relationships/control" Target="../activeX/activeX9.xml"/><Relationship Id="rId14" Type="http://schemas.openxmlformats.org/officeDocument/2006/relationships/slide" Target="slide3.xml"/><Relationship Id="rId22" Type="http://schemas.openxmlformats.org/officeDocument/2006/relationships/image" Target="../media/image15.wmf"/></Relationships>
</file>

<file path=ppt/slides/_rels/slide6.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image" Target="../media/image21.jpeg"/><Relationship Id="rId5" Type="http://schemas.openxmlformats.org/officeDocument/2006/relationships/slide" Target="slide3.xml"/><Relationship Id="rId10" Type="http://schemas.openxmlformats.org/officeDocument/2006/relationships/image" Target="../media/image20.jpeg"/><Relationship Id="rId4" Type="http://schemas.openxmlformats.org/officeDocument/2006/relationships/slide" Target="slide2.xml"/><Relationship Id="rId9" Type="http://schemas.openxmlformats.org/officeDocument/2006/relationships/image" Target="../media/image19.jpeg"/></Relationships>
</file>

<file path=ppt/slides/_rels/slide7.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hyperlink" Target="http://www.twitter.com/PPP-NJ" TargetMode="External"/><Relationship Id="rId3" Type="http://schemas.openxmlformats.org/officeDocument/2006/relationships/image" Target="../media/image1.png"/><Relationship Id="rId7" Type="http://schemas.openxmlformats.org/officeDocument/2006/relationships/slide" Target="slide4.xml"/><Relationship Id="rId12" Type="http://schemas.openxmlformats.org/officeDocument/2006/relationships/hyperlink" Target="http://www.instagram.com/therealparadigmpetpros" TargetMode="External"/><Relationship Id="rId2" Type="http://schemas.openxmlformats.org/officeDocument/2006/relationships/notesSlide" Target="../notesSlides/notesSlide1.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slide" Target="slide3.xml"/><Relationship Id="rId11" Type="http://schemas.openxmlformats.org/officeDocument/2006/relationships/hyperlink" Target="http://www.facebook.com/paradigmpetprofessionals" TargetMode="External"/><Relationship Id="rId5" Type="http://schemas.openxmlformats.org/officeDocument/2006/relationships/slide" Target="slide2.xml"/><Relationship Id="rId15" Type="http://schemas.openxmlformats.org/officeDocument/2006/relationships/image" Target="../media/image6.png"/><Relationship Id="rId10" Type="http://schemas.openxmlformats.org/officeDocument/2006/relationships/hyperlink" Target="mailto:PPP@notanemail.com" TargetMode="External"/><Relationship Id="rId4" Type="http://schemas.openxmlformats.org/officeDocument/2006/relationships/slide" Target="slide1.xml"/><Relationship Id="rId9" Type="http://schemas.openxmlformats.org/officeDocument/2006/relationships/slide" Target="slide6.xml"/><Relationship Id="rId14" Type="http://schemas.openxmlformats.org/officeDocument/2006/relationships/hyperlink" Target="http://www.discordapp.com/users/PPP-NJ"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66A6BB-10F6-6684-25BF-3EC39CFFBFCF}"/>
              </a:ext>
            </a:extLst>
          </p:cNvPr>
          <p:cNvSpPr/>
          <p:nvPr/>
        </p:nvSpPr>
        <p:spPr>
          <a:xfrm>
            <a:off x="0" y="0"/>
            <a:ext cx="12192000" cy="1495425"/>
          </a:xfrm>
          <a:prstGeom prst="rect">
            <a:avLst/>
          </a:prstGeom>
          <a:solidFill>
            <a:srgbClr val="003B6D"/>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339" name="Picture 5" descr="A logo with blue and grey circles&#10;&#10;Description automatically generated">
            <a:extLst>
              <a:ext uri="{FF2B5EF4-FFF2-40B4-BE49-F238E27FC236}">
                <a16:creationId xmlns:a16="http://schemas.microsoft.com/office/drawing/2014/main" id="{40885BD0-96AD-1C7F-2144-0D55F3FA4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9550"/>
            <a:ext cx="2511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97C96C37-9F84-6922-C159-95A1CFD0967F}"/>
              </a:ext>
            </a:extLst>
          </p:cNvPr>
          <p:cNvSpPr/>
          <p:nvPr/>
        </p:nvSpPr>
        <p:spPr>
          <a:xfrm>
            <a:off x="0" y="6362700"/>
            <a:ext cx="12192000" cy="495300"/>
          </a:xfrm>
          <a:prstGeom prst="rect">
            <a:avLst/>
          </a:prstGeom>
          <a:solidFill>
            <a:srgbClr val="6699CC"/>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341" name="TextBox 7">
            <a:extLst>
              <a:ext uri="{FF2B5EF4-FFF2-40B4-BE49-F238E27FC236}">
                <a16:creationId xmlns:a16="http://schemas.microsoft.com/office/drawing/2014/main" id="{B00D9FBA-05EE-BDB1-7D2F-F4022806A4F7}"/>
              </a:ext>
            </a:extLst>
          </p:cNvPr>
          <p:cNvSpPr txBox="1">
            <a:spLocks noChangeArrowheads="1"/>
          </p:cNvSpPr>
          <p:nvPr/>
        </p:nvSpPr>
        <p:spPr bwMode="auto">
          <a:xfrm>
            <a:off x="3138488" y="823913"/>
            <a:ext cx="826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chemeClr val="bg1"/>
                </a:solidFill>
                <a:latin typeface="Century Gothic" panose="020B0502020202020204" pitchFamily="34" charset="0"/>
              </a:rPr>
              <a:t>Home    Dogs    Cats    Birds    Pexperts</a:t>
            </a:r>
          </a:p>
        </p:txBody>
      </p:sp>
      <p:sp>
        <p:nvSpPr>
          <p:cNvPr id="14342" name="TextBox 8">
            <a:extLst>
              <a:ext uri="{FF2B5EF4-FFF2-40B4-BE49-F238E27FC236}">
                <a16:creationId xmlns:a16="http://schemas.microsoft.com/office/drawing/2014/main" id="{751F9B23-32FF-2560-151A-589FE12BED08}"/>
              </a:ext>
            </a:extLst>
          </p:cNvPr>
          <p:cNvSpPr txBox="1">
            <a:spLocks noChangeArrowheads="1"/>
          </p:cNvSpPr>
          <p:nvPr/>
        </p:nvSpPr>
        <p:spPr bwMode="auto">
          <a:xfrm>
            <a:off x="406400" y="6440488"/>
            <a:ext cx="293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chemeClr val="bg1"/>
                </a:solidFill>
                <a:latin typeface="Century Gothic" panose="020B0502020202020204" pitchFamily="34" charset="0"/>
              </a:rPr>
              <a:t>About Us     Contact Us</a:t>
            </a:r>
          </a:p>
        </p:txBody>
      </p:sp>
      <p:sp>
        <p:nvSpPr>
          <p:cNvPr id="14343" name="TextBox 9">
            <a:extLst>
              <a:ext uri="{FF2B5EF4-FFF2-40B4-BE49-F238E27FC236}">
                <a16:creationId xmlns:a16="http://schemas.microsoft.com/office/drawing/2014/main" id="{72F783EC-3E45-E9C5-ED0A-52149D8A34CA}"/>
              </a:ext>
            </a:extLst>
          </p:cNvPr>
          <p:cNvSpPr txBox="1">
            <a:spLocks noChangeArrowheads="1"/>
          </p:cNvSpPr>
          <p:nvPr/>
        </p:nvSpPr>
        <p:spPr bwMode="auto">
          <a:xfrm>
            <a:off x="4953000" y="6486525"/>
            <a:ext cx="2928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chemeClr val="bg1"/>
                </a:solidFill>
                <a:latin typeface="Century Gothic" panose="020B0502020202020204" pitchFamily="34" charset="0"/>
              </a:rPr>
              <a:t>@JennaGordon Enterprises</a:t>
            </a:r>
          </a:p>
        </p:txBody>
      </p:sp>
      <p:sp>
        <p:nvSpPr>
          <p:cNvPr id="13" name="Rectangle 12">
            <a:hlinkClick r:id="rId3" action="ppaction://hlinksldjump"/>
            <a:extLst>
              <a:ext uri="{FF2B5EF4-FFF2-40B4-BE49-F238E27FC236}">
                <a16:creationId xmlns:a16="http://schemas.microsoft.com/office/drawing/2014/main" id="{5D7B0A66-863B-5B25-4BDE-E6E048A01FD8}"/>
              </a:ext>
            </a:extLst>
          </p:cNvPr>
          <p:cNvSpPr/>
          <p:nvPr/>
        </p:nvSpPr>
        <p:spPr>
          <a:xfrm>
            <a:off x="3138488" y="823913"/>
            <a:ext cx="1055687" cy="461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345" name="TextBox 14">
            <a:extLst>
              <a:ext uri="{FF2B5EF4-FFF2-40B4-BE49-F238E27FC236}">
                <a16:creationId xmlns:a16="http://schemas.microsoft.com/office/drawing/2014/main" id="{D2F2C79B-BD65-D231-E0E9-45D7B3711AD6}"/>
              </a:ext>
            </a:extLst>
          </p:cNvPr>
          <p:cNvSpPr txBox="1">
            <a:spLocks noChangeArrowheads="1"/>
          </p:cNvSpPr>
          <p:nvPr/>
        </p:nvSpPr>
        <p:spPr bwMode="auto">
          <a:xfrm>
            <a:off x="542925" y="1674813"/>
            <a:ext cx="2259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a:solidFill>
                  <a:srgbClr val="003B6D"/>
                </a:solidFill>
                <a:latin typeface="Lucida Calligraphy" panose="03010101010101010101" pitchFamily="66" charset="0"/>
                <a:cs typeface="Dreaming Outloud Script Pro" panose="03050502040304050704" pitchFamily="66" charset="0"/>
              </a:rPr>
              <a:t>Welcome!</a:t>
            </a:r>
          </a:p>
        </p:txBody>
      </p:sp>
      <p:sp>
        <p:nvSpPr>
          <p:cNvPr id="16" name="Rectangle 15">
            <a:hlinkClick r:id="rId4" action="ppaction://hlinksldjump"/>
            <a:extLst>
              <a:ext uri="{FF2B5EF4-FFF2-40B4-BE49-F238E27FC236}">
                <a16:creationId xmlns:a16="http://schemas.microsoft.com/office/drawing/2014/main" id="{80A625E6-7D2D-BA54-0C0D-0B7AD36A678D}"/>
              </a:ext>
            </a:extLst>
          </p:cNvPr>
          <p:cNvSpPr/>
          <p:nvPr/>
        </p:nvSpPr>
        <p:spPr>
          <a:xfrm>
            <a:off x="4337050" y="823913"/>
            <a:ext cx="969963"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hlinkClick r:id="rId5" action="ppaction://hlinksldjump"/>
            <a:extLst>
              <a:ext uri="{FF2B5EF4-FFF2-40B4-BE49-F238E27FC236}">
                <a16:creationId xmlns:a16="http://schemas.microsoft.com/office/drawing/2014/main" id="{EA31D9AE-EDCB-F081-FEC6-256183303C71}"/>
              </a:ext>
            </a:extLst>
          </p:cNvPr>
          <p:cNvSpPr/>
          <p:nvPr/>
        </p:nvSpPr>
        <p:spPr>
          <a:xfrm>
            <a:off x="5465763" y="823913"/>
            <a:ext cx="87471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hlinkClick r:id="rId6" action="ppaction://hlinksldjump"/>
            <a:extLst>
              <a:ext uri="{FF2B5EF4-FFF2-40B4-BE49-F238E27FC236}">
                <a16:creationId xmlns:a16="http://schemas.microsoft.com/office/drawing/2014/main" id="{D20284B3-2246-C8A1-A0C0-C2A5CCAEFE5C}"/>
              </a:ext>
            </a:extLst>
          </p:cNvPr>
          <p:cNvSpPr/>
          <p:nvPr/>
        </p:nvSpPr>
        <p:spPr>
          <a:xfrm>
            <a:off x="6499225" y="823913"/>
            <a:ext cx="873125"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hlinkClick r:id="rId7" action="ppaction://hlinksldjump"/>
            <a:extLst>
              <a:ext uri="{FF2B5EF4-FFF2-40B4-BE49-F238E27FC236}">
                <a16:creationId xmlns:a16="http://schemas.microsoft.com/office/drawing/2014/main" id="{C7882C2A-60EE-2BFE-4922-A3CD1A6985FF}"/>
              </a:ext>
            </a:extLst>
          </p:cNvPr>
          <p:cNvSpPr/>
          <p:nvPr/>
        </p:nvSpPr>
        <p:spPr>
          <a:xfrm>
            <a:off x="7488238" y="823913"/>
            <a:ext cx="140176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hlinkClick r:id="rId8" action="ppaction://hlinksldjump"/>
            <a:extLst>
              <a:ext uri="{FF2B5EF4-FFF2-40B4-BE49-F238E27FC236}">
                <a16:creationId xmlns:a16="http://schemas.microsoft.com/office/drawing/2014/main" id="{64963711-5D82-03DB-42E8-2C4F95EA21C7}"/>
              </a:ext>
            </a:extLst>
          </p:cNvPr>
          <p:cNvSpPr/>
          <p:nvPr/>
        </p:nvSpPr>
        <p:spPr>
          <a:xfrm>
            <a:off x="1584325" y="6324600"/>
            <a:ext cx="1403350"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hlinkClick r:id="rId9" action="ppaction://hlinksldjump"/>
            <a:extLst>
              <a:ext uri="{FF2B5EF4-FFF2-40B4-BE49-F238E27FC236}">
                <a16:creationId xmlns:a16="http://schemas.microsoft.com/office/drawing/2014/main" id="{0A8FFA87-37AB-499B-A382-6A00D023BD4E}"/>
              </a:ext>
            </a:extLst>
          </p:cNvPr>
          <p:cNvSpPr/>
          <p:nvPr/>
        </p:nvSpPr>
        <p:spPr>
          <a:xfrm>
            <a:off x="406400" y="6440488"/>
            <a:ext cx="1046163" cy="4175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352" name="Picture 24" descr="A paw print on a blue background&#10;&#10;Description automatically generated">
            <a:extLst>
              <a:ext uri="{FF2B5EF4-FFF2-40B4-BE49-F238E27FC236}">
                <a16:creationId xmlns:a16="http://schemas.microsoft.com/office/drawing/2014/main" id="{4B8883D9-1091-613F-0A2E-854EF87F29E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3613" y="577850"/>
            <a:ext cx="327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3" name="TextBox 25">
            <a:extLst>
              <a:ext uri="{FF2B5EF4-FFF2-40B4-BE49-F238E27FC236}">
                <a16:creationId xmlns:a16="http://schemas.microsoft.com/office/drawing/2014/main" id="{B48B3484-1498-A8BD-8F6B-726D7B1C8038}"/>
              </a:ext>
            </a:extLst>
          </p:cNvPr>
          <p:cNvSpPr txBox="1">
            <a:spLocks noChangeArrowheads="1"/>
          </p:cNvSpPr>
          <p:nvPr/>
        </p:nvSpPr>
        <p:spPr bwMode="auto">
          <a:xfrm>
            <a:off x="542925" y="2141538"/>
            <a:ext cx="6072188" cy="275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07000"/>
              </a:lnSpc>
            </a:pPr>
            <a:r>
              <a:rPr lang="en-US" altLang="en-US" sz="1000" dirty="0">
                <a:ea typeface="Calibri" panose="020F0502020204030204" pitchFamily="34" charset="0"/>
                <a:cs typeface="Arial" panose="020B0604020202020204" pitchFamily="34" charset="0"/>
              </a:rPr>
              <a:t>Pets are nature's gift to humanity. It has been scientifically proven that opening our homes and hearts to a pet increases our longevity and improves our overall quality of life as well as the lives of our pets. At Pet Paradigm Professionals, our mission is to offer resources to help you care for your furry, scaly, feathery, and slimy loved ones. Our pet experts—or “</a:t>
            </a:r>
            <a:r>
              <a:rPr lang="en-US" altLang="en-US" sz="1000" dirty="0" err="1">
                <a:ea typeface="Calibri" panose="020F0502020204030204" pitchFamily="34" charset="0"/>
                <a:cs typeface="Arial" panose="020B0604020202020204" pitchFamily="34" charset="0"/>
                <a:hlinkClick r:id="rId7" action="ppaction://hlinksldjump"/>
              </a:rPr>
              <a:t>Pexperts</a:t>
            </a:r>
            <a:r>
              <a:rPr lang="en-US" altLang="en-US" sz="1000" dirty="0">
                <a:ea typeface="Calibri" panose="020F0502020204030204" pitchFamily="34" charset="0"/>
                <a:cs typeface="Arial" panose="020B0604020202020204" pitchFamily="34" charset="0"/>
              </a:rPr>
              <a:t>”—have been working with pet owners and professionals alike for the past twelve years. They offer one-on-one consultations with current and prospective pet owners as well as group presentations designed for veterinary, pet shelter, and pet breeding professionals.</a:t>
            </a:r>
          </a:p>
          <a:p>
            <a:pPr eaLnBrk="1" hangingPunct="1">
              <a:lnSpc>
                <a:spcPct val="107000"/>
              </a:lnSpc>
            </a:pPr>
            <a:r>
              <a:rPr lang="en-US" altLang="en-US" sz="1000" dirty="0">
                <a:ea typeface="Calibri" panose="020F0502020204030204" pitchFamily="34" charset="0"/>
                <a:cs typeface="Arial" panose="020B0604020202020204" pitchFamily="34" charset="0"/>
              </a:rPr>
              <a:t> </a:t>
            </a:r>
          </a:p>
          <a:p>
            <a:pPr eaLnBrk="1" hangingPunct="1"/>
            <a:r>
              <a:rPr lang="en-US" altLang="en-US" sz="1000" dirty="0">
                <a:ea typeface="Calibri" panose="020F0502020204030204" pitchFamily="34" charset="0"/>
                <a:cs typeface="Times New Roman" panose="02020603050405020304" pitchFamily="18" charset="0"/>
              </a:rPr>
              <a:t>Looking for basic pet care advice for the most common type of pets? Need additional help determining which type of pet is right for you and your family? We will work with you and provide tailored evidence-based pet care to ensure lifelong health and wellness of your new companion. </a:t>
            </a:r>
          </a:p>
          <a:p>
            <a:pPr eaLnBrk="1" hangingPunct="1"/>
            <a:r>
              <a:rPr lang="en-US" altLang="en-US" sz="1000" dirty="0">
                <a:ea typeface="Calibri" panose="020F0502020204030204" pitchFamily="34" charset="0"/>
                <a:cs typeface="Times New Roman" panose="02020603050405020304" pitchFamily="18" charset="0"/>
              </a:rPr>
              <a:t> </a:t>
            </a:r>
          </a:p>
          <a:p>
            <a:pPr eaLnBrk="1" hangingPunct="1"/>
            <a:r>
              <a:rPr lang="en-US" altLang="en-US" sz="1000" dirty="0">
                <a:ea typeface="Calibri" panose="020F0502020204030204" pitchFamily="34" charset="0"/>
                <a:cs typeface="Times New Roman" panose="02020603050405020304" pitchFamily="18" charset="0"/>
              </a:rPr>
              <a:t>We are also happy to help you navigate the adoption process! We will guide you through each step in the process from determining which type of pet is best suited for your family and home environment, to completing the necessary paperwork, to bringing your new loved one home. Please fill out our </a:t>
            </a:r>
            <a:r>
              <a:rPr lang="en-US" altLang="en-US" sz="1000" dirty="0">
                <a:ea typeface="Calibri" panose="020F0502020204030204" pitchFamily="34" charset="0"/>
                <a:cs typeface="Times New Roman" panose="02020603050405020304" pitchFamily="18" charset="0"/>
                <a:hlinkClick r:id="rId7" action="ppaction://hlinksldjump"/>
              </a:rPr>
              <a:t>contact form </a:t>
            </a:r>
            <a:r>
              <a:rPr lang="en-US" altLang="en-US" sz="1000" dirty="0">
                <a:ea typeface="Calibri" panose="020F0502020204030204" pitchFamily="34" charset="0"/>
                <a:cs typeface="Times New Roman" panose="02020603050405020304" pitchFamily="18" charset="0"/>
              </a:rPr>
              <a:t>to request a consultation. We will contact you within 48 hours to schedule a consultation. All fields are required.</a:t>
            </a:r>
          </a:p>
          <a:p>
            <a:pPr eaLnBrk="1" hangingPunct="1"/>
            <a:endParaRPr lang="en-US" altLang="en-US" dirty="0">
              <a:ea typeface="Calibri" panose="020F0502020204030204" pitchFamily="34" charset="0"/>
              <a:cs typeface="Times New Roman" panose="02020603050405020304" pitchFamily="18" charset="0"/>
            </a:endParaRPr>
          </a:p>
        </p:txBody>
      </p:sp>
      <p:sp>
        <p:nvSpPr>
          <p:cNvPr id="29" name="Rectangle: Rounded Corners 28">
            <a:extLst>
              <a:ext uri="{FF2B5EF4-FFF2-40B4-BE49-F238E27FC236}">
                <a16:creationId xmlns:a16="http://schemas.microsoft.com/office/drawing/2014/main" id="{39322E81-CF66-D8A8-6198-B92BF2E5CD7A}"/>
              </a:ext>
            </a:extLst>
          </p:cNvPr>
          <p:cNvSpPr/>
          <p:nvPr/>
        </p:nvSpPr>
        <p:spPr>
          <a:xfrm>
            <a:off x="6954838" y="1803400"/>
            <a:ext cx="2636837" cy="4029075"/>
          </a:xfrm>
          <a:prstGeom prst="roundRect">
            <a:avLst/>
          </a:prstGeom>
          <a:solidFill>
            <a:srgbClr val="BDBDBD"/>
          </a:solidFill>
          <a:ln w="38100">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4355" name="TextBox 29">
            <a:extLst>
              <a:ext uri="{FF2B5EF4-FFF2-40B4-BE49-F238E27FC236}">
                <a16:creationId xmlns:a16="http://schemas.microsoft.com/office/drawing/2014/main" id="{7708171C-F5ED-978C-38BA-7197550E7885}"/>
              </a:ext>
            </a:extLst>
          </p:cNvPr>
          <p:cNvSpPr txBox="1">
            <a:spLocks noChangeArrowheads="1"/>
          </p:cNvSpPr>
          <p:nvPr/>
        </p:nvSpPr>
        <p:spPr bwMode="auto">
          <a:xfrm>
            <a:off x="7123113" y="2808288"/>
            <a:ext cx="24288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cs typeface="Times New Roman" panose="02020603050405020304" pitchFamily="18" charset="0"/>
              </a:rPr>
              <a:t>Looking for your new best friend? The following organizations can help you find and adopt the perfect companion:</a:t>
            </a:r>
          </a:p>
          <a:p>
            <a:pPr eaLnBrk="1" hangingPunct="1"/>
            <a:r>
              <a:rPr lang="en-US" altLang="en-US" sz="1200">
                <a:cs typeface="Times New Roman" panose="02020603050405020304" pitchFamily="18" charset="0"/>
              </a:rPr>
              <a:t>- General Adoption Resources</a:t>
            </a:r>
            <a:r>
              <a:rPr lang="en-US" altLang="en-US" sz="1200" i="1">
                <a:cs typeface="Times New Roman" panose="02020603050405020304" pitchFamily="18" charset="0"/>
              </a:rPr>
              <a:t>: </a:t>
            </a:r>
          </a:p>
          <a:p>
            <a:pPr eaLnBrk="1" hangingPunct="1"/>
            <a:r>
              <a:rPr lang="en-US" altLang="en-US" sz="1200" u="sng">
                <a:solidFill>
                  <a:srgbClr val="0563C1"/>
                </a:solidFill>
                <a:cs typeface="Times New Roman" panose="02020603050405020304" pitchFamily="18" charset="0"/>
                <a:hlinkClick r:id="rId11"/>
              </a:rPr>
              <a:t>https://home-home.org/</a:t>
            </a:r>
            <a:r>
              <a:rPr lang="en-US" altLang="en-US" sz="1200">
                <a:cs typeface="Times New Roman" panose="02020603050405020304" pitchFamily="18" charset="0"/>
              </a:rPr>
              <a:t> </a:t>
            </a:r>
          </a:p>
          <a:p>
            <a:pPr eaLnBrk="1" hangingPunct="1"/>
            <a:r>
              <a:rPr lang="es-ES" altLang="en-US" sz="1200">
                <a:cs typeface="Times New Roman" panose="02020603050405020304" pitchFamily="18" charset="0"/>
              </a:rPr>
              <a:t>- ASPCA: </a:t>
            </a:r>
            <a:r>
              <a:rPr lang="es-ES" altLang="en-US" sz="1200" u="sng">
                <a:solidFill>
                  <a:srgbClr val="0563C1"/>
                </a:solidFill>
                <a:cs typeface="Times New Roman" panose="02020603050405020304" pitchFamily="18" charset="0"/>
                <a:hlinkClick r:id="rId12"/>
              </a:rPr>
              <a:t>https://www.aspca.org/</a:t>
            </a:r>
            <a:r>
              <a:rPr lang="en-US" altLang="en-US" sz="1200">
                <a:cs typeface="Times New Roman" panose="02020603050405020304" pitchFamily="18" charset="0"/>
              </a:rPr>
              <a:t> </a:t>
            </a:r>
          </a:p>
          <a:p>
            <a:pPr eaLnBrk="1" hangingPunct="1"/>
            <a:r>
              <a:rPr lang="en-US" altLang="en-US" sz="1200">
                <a:cs typeface="Times New Roman" panose="02020603050405020304" pitchFamily="18" charset="0"/>
              </a:rPr>
              <a:t>- Fish Rescue: </a:t>
            </a:r>
            <a:r>
              <a:rPr lang="en-US" altLang="en-US" sz="1200" u="sng">
                <a:solidFill>
                  <a:srgbClr val="0563C1"/>
                </a:solidFill>
                <a:cs typeface="Times New Roman" panose="02020603050405020304" pitchFamily="18" charset="0"/>
                <a:hlinkClick r:id="rId13"/>
              </a:rPr>
              <a:t>https://www.sterlingshelter.org/humane-society/koi-fish-rescue/</a:t>
            </a:r>
            <a:endParaRPr lang="en-US" altLang="en-US" sz="1200">
              <a:cs typeface="Times New Roman" panose="02020603050405020304" pitchFamily="18" charset="0"/>
            </a:endParaRPr>
          </a:p>
          <a:p>
            <a:pPr eaLnBrk="1" hangingPunct="1"/>
            <a:r>
              <a:rPr lang="en-US" altLang="en-US" sz="1200">
                <a:cs typeface="Times New Roman" panose="02020603050405020304" pitchFamily="18" charset="0"/>
              </a:rPr>
              <a:t>- Snake Rescue: </a:t>
            </a:r>
            <a:r>
              <a:rPr lang="en-US" altLang="en-US" sz="1200" u="sng">
                <a:solidFill>
                  <a:srgbClr val="0563C1"/>
                </a:solidFill>
                <a:cs typeface="Times New Roman" panose="02020603050405020304" pitchFamily="18" charset="0"/>
                <a:hlinkClick r:id="rId14"/>
              </a:rPr>
              <a:t>https://savethesnakes.org/snakerescuecall/</a:t>
            </a:r>
            <a:endParaRPr lang="en-US" altLang="en-US" sz="1200">
              <a:cs typeface="Times New Roman" panose="02020603050405020304" pitchFamily="18" charset="0"/>
            </a:endParaRPr>
          </a:p>
          <a:p>
            <a:pPr eaLnBrk="1" hangingPunct="1"/>
            <a:r>
              <a:rPr lang="en-US" altLang="en-US" sz="1200">
                <a:cs typeface="Times New Roman" panose="02020603050405020304" pitchFamily="18" charset="0"/>
              </a:rPr>
              <a:t>- Bird Rescue: </a:t>
            </a:r>
            <a:r>
              <a:rPr lang="en-US" altLang="en-US" sz="1200" u="sng">
                <a:solidFill>
                  <a:srgbClr val="0563C1"/>
                </a:solidFill>
                <a:cs typeface="Times New Roman" panose="02020603050405020304" pitchFamily="18" charset="0"/>
                <a:hlinkClick r:id="rId15"/>
              </a:rPr>
              <a:t>https://ftlob.rescuegroups.org/</a:t>
            </a:r>
            <a:endParaRPr lang="en-US" altLang="en-US" sz="1200">
              <a:cs typeface="Times New Roman" panose="02020603050405020304" pitchFamily="18" charset="0"/>
            </a:endParaRPr>
          </a:p>
        </p:txBody>
      </p:sp>
      <p:pic>
        <p:nvPicPr>
          <p:cNvPr id="38" name="Picture 37" descr="A close-up of a dog&#10;&#10;Description automatically generated">
            <a:extLst>
              <a:ext uri="{FF2B5EF4-FFF2-40B4-BE49-F238E27FC236}">
                <a16:creationId xmlns:a16="http://schemas.microsoft.com/office/drawing/2014/main" id="{970785A5-2349-E184-C0E7-E1537D7A6AB6}"/>
              </a:ext>
            </a:extLst>
          </p:cNvPr>
          <p:cNvPicPr>
            <a:picLocks noChangeAspect="1"/>
          </p:cNvPicPr>
          <p:nvPr/>
        </p:nvPicPr>
        <p:blipFill>
          <a:blip r:embed="rId16"/>
          <a:stretch>
            <a:fillRect/>
          </a:stretch>
        </p:blipFill>
        <p:spPr>
          <a:xfrm>
            <a:off x="542925" y="4773613"/>
            <a:ext cx="1597025" cy="1219200"/>
          </a:xfrm>
          <a:prstGeom prst="rect">
            <a:avLst/>
          </a:prstGeom>
          <a:ln>
            <a:solidFill>
              <a:schemeClr val="tx1">
                <a:lumMod val="50000"/>
                <a:lumOff val="50000"/>
              </a:schemeClr>
            </a:solidFill>
          </a:ln>
        </p:spPr>
      </p:pic>
      <p:pic>
        <p:nvPicPr>
          <p:cNvPr id="14357" name="Picture 39" descr="A cat lying on a carpeted stair">
            <a:extLst>
              <a:ext uri="{FF2B5EF4-FFF2-40B4-BE49-F238E27FC236}">
                <a16:creationId xmlns:a16="http://schemas.microsoft.com/office/drawing/2014/main" id="{4F78999F-AC31-5A30-CB91-F301E6057ED5}"/>
              </a:ext>
            </a:extLst>
          </p:cNvPr>
          <p:cNvPicPr>
            <a:picLocks noChangeAspect="1"/>
          </p:cNvPicPr>
          <p:nvPr/>
        </p:nvPicPr>
        <p:blipFill>
          <a:blip r:embed="rId17">
            <a:extLst>
              <a:ext uri="{28A0092B-C50C-407E-A947-70E740481C1C}">
                <a14:useLocalDpi xmlns:a14="http://schemas.microsoft.com/office/drawing/2010/main" val="0"/>
              </a:ext>
            </a:extLst>
          </a:blip>
          <a:srcRect l="14667" t="14471" r="1334" b="3952"/>
          <a:stretch>
            <a:fillRect/>
          </a:stretch>
        </p:blipFill>
        <p:spPr bwMode="auto">
          <a:xfrm>
            <a:off x="2349500" y="4778375"/>
            <a:ext cx="1647825" cy="122555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pic>
        <p:nvPicPr>
          <p:cNvPr id="42" name="Picture 41" descr="A bird with yellow and white feathers">
            <a:extLst>
              <a:ext uri="{FF2B5EF4-FFF2-40B4-BE49-F238E27FC236}">
                <a16:creationId xmlns:a16="http://schemas.microsoft.com/office/drawing/2014/main" id="{5DEE23C2-1F75-35CB-B955-3A8CC2160446}"/>
              </a:ext>
            </a:extLst>
          </p:cNvPr>
          <p:cNvPicPr>
            <a:picLocks noChangeAspect="1"/>
          </p:cNvPicPr>
          <p:nvPr/>
        </p:nvPicPr>
        <p:blipFill rotWithShape="1">
          <a:blip r:embed="rId18"/>
          <a:srcRect l="17136" r="26132"/>
          <a:stretch/>
        </p:blipFill>
        <p:spPr>
          <a:xfrm>
            <a:off x="4211638" y="4779963"/>
            <a:ext cx="1096962" cy="1246187"/>
          </a:xfrm>
          <a:prstGeom prst="rect">
            <a:avLst/>
          </a:prstGeom>
          <a:ln>
            <a:solidFill>
              <a:schemeClr val="tx1">
                <a:lumMod val="50000"/>
                <a:lumOff val="50000"/>
              </a:schemeClr>
            </a:solidFill>
          </a:ln>
        </p:spPr>
      </p:pic>
      <p:pic>
        <p:nvPicPr>
          <p:cNvPr id="44" name="Picture 43" descr="A sign with a headphone and a microphone&#10;&#10;Description automatically generated">
            <a:extLst>
              <a:ext uri="{FF2B5EF4-FFF2-40B4-BE49-F238E27FC236}">
                <a16:creationId xmlns:a16="http://schemas.microsoft.com/office/drawing/2014/main" id="{652AE196-40CC-2F89-1826-22D55FF8E514}"/>
              </a:ext>
            </a:extLst>
          </p:cNvPr>
          <p:cNvPicPr>
            <a:picLocks noChangeAspect="1"/>
          </p:cNvPicPr>
          <p:nvPr/>
        </p:nvPicPr>
        <p:blipFill>
          <a:blip r:embed="rId19"/>
          <a:stretch>
            <a:fillRect/>
          </a:stretch>
        </p:blipFill>
        <p:spPr>
          <a:xfrm>
            <a:off x="5518150" y="4810125"/>
            <a:ext cx="1096963" cy="1222375"/>
          </a:xfrm>
          <a:prstGeom prst="rect">
            <a:avLst/>
          </a:prstGeom>
          <a:ln>
            <a:solidFill>
              <a:schemeClr val="tx1">
                <a:lumMod val="50000"/>
                <a:lumOff val="50000"/>
              </a:schemeClr>
            </a:solidFill>
          </a:ln>
        </p:spPr>
      </p:pic>
      <p:sp>
        <p:nvSpPr>
          <p:cNvPr id="45" name="Rectangle 44">
            <a:hlinkClick r:id="rId4" action="ppaction://hlinksldjump"/>
            <a:extLst>
              <a:ext uri="{FF2B5EF4-FFF2-40B4-BE49-F238E27FC236}">
                <a16:creationId xmlns:a16="http://schemas.microsoft.com/office/drawing/2014/main" id="{A2A53CDE-26EB-0324-76C3-01133186D852}"/>
              </a:ext>
            </a:extLst>
          </p:cNvPr>
          <p:cNvSpPr/>
          <p:nvPr/>
        </p:nvSpPr>
        <p:spPr>
          <a:xfrm>
            <a:off x="492125" y="4749800"/>
            <a:ext cx="1647825" cy="12461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6" name="Rectangle 45">
            <a:hlinkClick r:id="rId5" action="ppaction://hlinksldjump"/>
            <a:extLst>
              <a:ext uri="{FF2B5EF4-FFF2-40B4-BE49-F238E27FC236}">
                <a16:creationId xmlns:a16="http://schemas.microsoft.com/office/drawing/2014/main" id="{A2952509-41CD-C1BB-4D59-3B6150FC3964}"/>
              </a:ext>
            </a:extLst>
          </p:cNvPr>
          <p:cNvSpPr/>
          <p:nvPr/>
        </p:nvSpPr>
        <p:spPr>
          <a:xfrm>
            <a:off x="2336800" y="4773613"/>
            <a:ext cx="1647825" cy="12604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7" name="Rectangle 46">
            <a:hlinkClick r:id="rId6" action="ppaction://hlinksldjump"/>
            <a:extLst>
              <a:ext uri="{FF2B5EF4-FFF2-40B4-BE49-F238E27FC236}">
                <a16:creationId xmlns:a16="http://schemas.microsoft.com/office/drawing/2014/main" id="{F77492AD-305E-3CD8-B296-C181B7F4F4F1}"/>
              </a:ext>
            </a:extLst>
          </p:cNvPr>
          <p:cNvSpPr/>
          <p:nvPr/>
        </p:nvSpPr>
        <p:spPr>
          <a:xfrm>
            <a:off x="4157663" y="4787900"/>
            <a:ext cx="1149350" cy="12223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8" name="Rectangle 47">
            <a:hlinkClick r:id="rId7" action="ppaction://hlinksldjump"/>
            <a:extLst>
              <a:ext uri="{FF2B5EF4-FFF2-40B4-BE49-F238E27FC236}">
                <a16:creationId xmlns:a16="http://schemas.microsoft.com/office/drawing/2014/main" id="{CFD7CD91-72B4-9442-2F73-CE6515E3B6A4}"/>
              </a:ext>
            </a:extLst>
          </p:cNvPr>
          <p:cNvSpPr/>
          <p:nvPr/>
        </p:nvSpPr>
        <p:spPr>
          <a:xfrm>
            <a:off x="5518150" y="4772025"/>
            <a:ext cx="1096963" cy="12223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364" name="Picture 49" descr="A yellow balloon dog in a blue circle">
            <a:extLst>
              <a:ext uri="{FF2B5EF4-FFF2-40B4-BE49-F238E27FC236}">
                <a16:creationId xmlns:a16="http://schemas.microsoft.com/office/drawing/2014/main" id="{0CF302B8-8DC9-C60E-267A-BF8BC9F4DE3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34300" y="1887538"/>
            <a:ext cx="909638"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4E52A3-AE6A-1912-14B9-F5BBA954BAFD}"/>
              </a:ext>
            </a:extLst>
          </p:cNvPr>
          <p:cNvSpPr/>
          <p:nvPr/>
        </p:nvSpPr>
        <p:spPr>
          <a:xfrm>
            <a:off x="0" y="0"/>
            <a:ext cx="12192000" cy="1495425"/>
          </a:xfrm>
          <a:prstGeom prst="rect">
            <a:avLst/>
          </a:prstGeom>
          <a:solidFill>
            <a:srgbClr val="003B6D"/>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5363" name="Picture 5" descr="A logo with blue and grey circles&#10;&#10;Description automatically generated">
            <a:extLst>
              <a:ext uri="{FF2B5EF4-FFF2-40B4-BE49-F238E27FC236}">
                <a16:creationId xmlns:a16="http://schemas.microsoft.com/office/drawing/2014/main" id="{00B38905-C0CB-0382-C024-2787D844C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9550"/>
            <a:ext cx="2511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B1AD9EE8-5487-2B76-EC7D-8CDD69A3EA6B}"/>
              </a:ext>
            </a:extLst>
          </p:cNvPr>
          <p:cNvSpPr/>
          <p:nvPr/>
        </p:nvSpPr>
        <p:spPr>
          <a:xfrm>
            <a:off x="0" y="6362700"/>
            <a:ext cx="12192000" cy="495300"/>
          </a:xfrm>
          <a:prstGeom prst="rect">
            <a:avLst/>
          </a:prstGeom>
          <a:solidFill>
            <a:srgbClr val="6699CC"/>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365" name="TextBox 7">
            <a:extLst>
              <a:ext uri="{FF2B5EF4-FFF2-40B4-BE49-F238E27FC236}">
                <a16:creationId xmlns:a16="http://schemas.microsoft.com/office/drawing/2014/main" id="{D3F232D6-8E8F-8591-506B-DFDD4DB20AD3}"/>
              </a:ext>
            </a:extLst>
          </p:cNvPr>
          <p:cNvSpPr txBox="1">
            <a:spLocks noChangeArrowheads="1"/>
          </p:cNvSpPr>
          <p:nvPr/>
        </p:nvSpPr>
        <p:spPr bwMode="auto">
          <a:xfrm>
            <a:off x="3138488" y="823913"/>
            <a:ext cx="826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chemeClr val="bg1"/>
                </a:solidFill>
                <a:latin typeface="Century Gothic" panose="020B0502020202020204" pitchFamily="34" charset="0"/>
              </a:rPr>
              <a:t>Home    Dogs    Cats    Birds    Pexperts</a:t>
            </a:r>
          </a:p>
        </p:txBody>
      </p:sp>
      <p:sp>
        <p:nvSpPr>
          <p:cNvPr id="15366" name="TextBox 8">
            <a:extLst>
              <a:ext uri="{FF2B5EF4-FFF2-40B4-BE49-F238E27FC236}">
                <a16:creationId xmlns:a16="http://schemas.microsoft.com/office/drawing/2014/main" id="{D042B2AB-1651-1CEF-9E3D-5485B73DA164}"/>
              </a:ext>
            </a:extLst>
          </p:cNvPr>
          <p:cNvSpPr txBox="1">
            <a:spLocks noChangeArrowheads="1"/>
          </p:cNvSpPr>
          <p:nvPr/>
        </p:nvSpPr>
        <p:spPr bwMode="auto">
          <a:xfrm>
            <a:off x="406400" y="6440488"/>
            <a:ext cx="293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chemeClr val="bg1"/>
                </a:solidFill>
                <a:latin typeface="Century Gothic" panose="020B0502020202020204" pitchFamily="34" charset="0"/>
              </a:rPr>
              <a:t>About Us     Contact Us</a:t>
            </a:r>
          </a:p>
        </p:txBody>
      </p:sp>
      <p:sp>
        <p:nvSpPr>
          <p:cNvPr id="15367" name="TextBox 9">
            <a:extLst>
              <a:ext uri="{FF2B5EF4-FFF2-40B4-BE49-F238E27FC236}">
                <a16:creationId xmlns:a16="http://schemas.microsoft.com/office/drawing/2014/main" id="{9B111133-B517-626C-C287-FE56635BA43F}"/>
              </a:ext>
            </a:extLst>
          </p:cNvPr>
          <p:cNvSpPr txBox="1">
            <a:spLocks noChangeArrowheads="1"/>
          </p:cNvSpPr>
          <p:nvPr/>
        </p:nvSpPr>
        <p:spPr bwMode="auto">
          <a:xfrm>
            <a:off x="4953000" y="6486525"/>
            <a:ext cx="2928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chemeClr val="bg1"/>
                </a:solidFill>
                <a:latin typeface="Century Gothic" panose="020B0502020202020204" pitchFamily="34" charset="0"/>
              </a:rPr>
              <a:t>@JennaGordon Enterprises</a:t>
            </a:r>
          </a:p>
        </p:txBody>
      </p:sp>
      <p:sp>
        <p:nvSpPr>
          <p:cNvPr id="13" name="Rectangle 12">
            <a:hlinkClick r:id="rId3" action="ppaction://hlinksldjump"/>
            <a:extLst>
              <a:ext uri="{FF2B5EF4-FFF2-40B4-BE49-F238E27FC236}">
                <a16:creationId xmlns:a16="http://schemas.microsoft.com/office/drawing/2014/main" id="{6D5707BB-9EFE-D116-6B93-279960370215}"/>
              </a:ext>
            </a:extLst>
          </p:cNvPr>
          <p:cNvSpPr/>
          <p:nvPr/>
        </p:nvSpPr>
        <p:spPr>
          <a:xfrm>
            <a:off x="3138488" y="823913"/>
            <a:ext cx="1055687" cy="461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553EEE41-0317-13C1-00D9-A4A9B09E7B29}"/>
              </a:ext>
            </a:extLst>
          </p:cNvPr>
          <p:cNvSpPr/>
          <p:nvPr/>
        </p:nvSpPr>
        <p:spPr>
          <a:xfrm>
            <a:off x="4337050" y="823913"/>
            <a:ext cx="969963"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hlinkClick r:id="rId4" action="ppaction://hlinksldjump"/>
            <a:extLst>
              <a:ext uri="{FF2B5EF4-FFF2-40B4-BE49-F238E27FC236}">
                <a16:creationId xmlns:a16="http://schemas.microsoft.com/office/drawing/2014/main" id="{7B9E456A-B479-76AE-6E4D-6C890458201D}"/>
              </a:ext>
            </a:extLst>
          </p:cNvPr>
          <p:cNvSpPr/>
          <p:nvPr/>
        </p:nvSpPr>
        <p:spPr>
          <a:xfrm>
            <a:off x="5465763" y="823913"/>
            <a:ext cx="87471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hlinkClick r:id="rId5" action="ppaction://hlinksldjump"/>
            <a:extLst>
              <a:ext uri="{FF2B5EF4-FFF2-40B4-BE49-F238E27FC236}">
                <a16:creationId xmlns:a16="http://schemas.microsoft.com/office/drawing/2014/main" id="{4431A00A-19F4-503A-DEC7-4ED6F9652003}"/>
              </a:ext>
            </a:extLst>
          </p:cNvPr>
          <p:cNvSpPr/>
          <p:nvPr/>
        </p:nvSpPr>
        <p:spPr>
          <a:xfrm>
            <a:off x="6499225" y="823913"/>
            <a:ext cx="873125"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hlinkClick r:id="rId6" action="ppaction://hlinksldjump"/>
            <a:extLst>
              <a:ext uri="{FF2B5EF4-FFF2-40B4-BE49-F238E27FC236}">
                <a16:creationId xmlns:a16="http://schemas.microsoft.com/office/drawing/2014/main" id="{A82E83D8-69F0-D90D-7F82-1366D9DA6C9B}"/>
              </a:ext>
            </a:extLst>
          </p:cNvPr>
          <p:cNvSpPr/>
          <p:nvPr/>
        </p:nvSpPr>
        <p:spPr>
          <a:xfrm>
            <a:off x="7488238" y="823913"/>
            <a:ext cx="140176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hlinkClick r:id="rId7" action="ppaction://hlinksldjump"/>
            <a:extLst>
              <a:ext uri="{FF2B5EF4-FFF2-40B4-BE49-F238E27FC236}">
                <a16:creationId xmlns:a16="http://schemas.microsoft.com/office/drawing/2014/main" id="{38F556A8-4F5E-A574-7E09-20D549289545}"/>
              </a:ext>
            </a:extLst>
          </p:cNvPr>
          <p:cNvSpPr/>
          <p:nvPr/>
        </p:nvSpPr>
        <p:spPr>
          <a:xfrm>
            <a:off x="1584325" y="6324600"/>
            <a:ext cx="1403350"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hlinkClick r:id="rId8" action="ppaction://hlinksldjump"/>
            <a:extLst>
              <a:ext uri="{FF2B5EF4-FFF2-40B4-BE49-F238E27FC236}">
                <a16:creationId xmlns:a16="http://schemas.microsoft.com/office/drawing/2014/main" id="{5A754617-A088-FA2B-9A81-D63AA438774E}"/>
              </a:ext>
            </a:extLst>
          </p:cNvPr>
          <p:cNvSpPr/>
          <p:nvPr/>
        </p:nvSpPr>
        <p:spPr>
          <a:xfrm>
            <a:off x="406400" y="6440488"/>
            <a:ext cx="1046163" cy="4175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5375" name="Picture 1" descr="A paw print on a blue background&#10;&#10;Description automatically generated">
            <a:extLst>
              <a:ext uri="{FF2B5EF4-FFF2-40B4-BE49-F238E27FC236}">
                <a16:creationId xmlns:a16="http://schemas.microsoft.com/office/drawing/2014/main" id="{F003F82F-0588-661E-FC9C-14A473E5288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5025" y="560388"/>
            <a:ext cx="3270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6" name="Picture 22" descr="A black dog and a white dog sitting on a rug&#10;&#10;Description automatically generated">
            <a:extLst>
              <a:ext uri="{FF2B5EF4-FFF2-40B4-BE49-F238E27FC236}">
                <a16:creationId xmlns:a16="http://schemas.microsoft.com/office/drawing/2014/main" id="{FF15A526-60E0-AC19-BA33-FC4FC7004AD5}"/>
              </a:ext>
            </a:extLst>
          </p:cNvPr>
          <p:cNvPicPr>
            <a:picLocks noChangeAspect="1"/>
          </p:cNvPicPr>
          <p:nvPr/>
        </p:nvPicPr>
        <p:blipFill>
          <a:blip r:embed="rId10">
            <a:extLst>
              <a:ext uri="{28A0092B-C50C-407E-A947-70E740481C1C}">
                <a14:useLocalDpi xmlns:a14="http://schemas.microsoft.com/office/drawing/2010/main" val="0"/>
              </a:ext>
            </a:extLst>
          </a:blip>
          <a:srcRect t="28999" b="21001"/>
          <a:stretch>
            <a:fillRect/>
          </a:stretch>
        </p:blipFill>
        <p:spPr bwMode="auto">
          <a:xfrm>
            <a:off x="7070725" y="1846263"/>
            <a:ext cx="2551113" cy="1912937"/>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pic>
        <p:nvPicPr>
          <p:cNvPr id="15377" name="Picture 24" descr="A dog carrying a log in a field&#10;&#10;Description automatically generated">
            <a:extLst>
              <a:ext uri="{FF2B5EF4-FFF2-40B4-BE49-F238E27FC236}">
                <a16:creationId xmlns:a16="http://schemas.microsoft.com/office/drawing/2014/main" id="{C7C5215F-1C7B-D6EF-4687-3DFB6D91940B}"/>
              </a:ext>
            </a:extLst>
          </p:cNvPr>
          <p:cNvPicPr>
            <a:picLocks noChangeAspect="1"/>
          </p:cNvPicPr>
          <p:nvPr/>
        </p:nvPicPr>
        <p:blipFill>
          <a:blip r:embed="rId11">
            <a:extLst>
              <a:ext uri="{28A0092B-C50C-407E-A947-70E740481C1C}">
                <a14:useLocalDpi xmlns:a14="http://schemas.microsoft.com/office/drawing/2010/main" val="0"/>
              </a:ext>
            </a:extLst>
          </a:blip>
          <a:srcRect l="30219" t="9605" r="13780" b="23006"/>
          <a:stretch>
            <a:fillRect/>
          </a:stretch>
        </p:blipFill>
        <p:spPr bwMode="auto">
          <a:xfrm>
            <a:off x="7070725" y="4233863"/>
            <a:ext cx="2551113" cy="1736725"/>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sp>
        <p:nvSpPr>
          <p:cNvPr id="15378" name="TextBox 26">
            <a:extLst>
              <a:ext uri="{FF2B5EF4-FFF2-40B4-BE49-F238E27FC236}">
                <a16:creationId xmlns:a16="http://schemas.microsoft.com/office/drawing/2014/main" id="{AAA38B9A-D793-7602-C941-3DBC10FA8145}"/>
              </a:ext>
            </a:extLst>
          </p:cNvPr>
          <p:cNvSpPr txBox="1">
            <a:spLocks noChangeArrowheads="1"/>
          </p:cNvSpPr>
          <p:nvPr/>
        </p:nvSpPr>
        <p:spPr bwMode="auto">
          <a:xfrm>
            <a:off x="478632" y="2048379"/>
            <a:ext cx="6429162" cy="443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900" dirty="0">
                <a:solidFill>
                  <a:srgbClr val="000000"/>
                </a:solidFill>
                <a:cs typeface="Times New Roman" panose="02020603050405020304" pitchFamily="18" charset="0"/>
              </a:rPr>
              <a:t>The domestic dog is an extremely social animal and offers a diverse variety of choices as there are well over 300 breeds recognized by the World Canine Organization. Adopting a dog offers mutual benefits between dog and owner. Many studies cite the social benefits of having a companion as well as the reduced feelings of loneliness from adopting a dog. Studies even show medical indicators such as </a:t>
            </a:r>
            <a:r>
              <a:rPr lang="en-US" altLang="en-US" sz="900" u="sng" dirty="0">
                <a:solidFill>
                  <a:srgbClr val="0563C1"/>
                </a:solidFill>
                <a:cs typeface="Times New Roman" panose="02020603050405020304" pitchFamily="18" charset="0"/>
                <a:hlinkClick r:id="rId12" tooltip="Dog Ownership and Survival"/>
              </a:rPr>
              <a:t>reduced blood pressure and improved lipid profiles</a:t>
            </a:r>
            <a:r>
              <a:rPr lang="en-US" altLang="en-US" sz="900" dirty="0">
                <a:solidFill>
                  <a:srgbClr val="000000"/>
                </a:solidFill>
                <a:cs typeface="Times New Roman" panose="02020603050405020304" pitchFamily="18" charset="0"/>
              </a:rPr>
              <a:t>. If you have a dog, it is important to make sure that you care for your dog; be mindful of what you feed your dog and provide enough opportunities for exercise. In this page, you will find more information about how to care for your pets throughout the various stages of their lives.</a:t>
            </a:r>
            <a:endParaRPr lang="en-US" altLang="en-US" sz="900" dirty="0">
              <a:cs typeface="Times New Roman" panose="02020603050405020304" pitchFamily="18" charset="0"/>
            </a:endParaRPr>
          </a:p>
          <a:p>
            <a:pPr eaLnBrk="1" hangingPunct="1"/>
            <a:r>
              <a:rPr lang="en-US" altLang="en-US" sz="900" dirty="0">
                <a:solidFill>
                  <a:srgbClr val="000000"/>
                </a:solidFill>
                <a:cs typeface="Times New Roman" panose="02020603050405020304" pitchFamily="18" charset="0"/>
              </a:rPr>
              <a:t> </a:t>
            </a:r>
            <a:endParaRPr lang="en-US" altLang="en-US" sz="900" b="1" dirty="0">
              <a:cs typeface="Times New Roman" panose="02020603050405020304" pitchFamily="18" charset="0"/>
            </a:endParaRPr>
          </a:p>
          <a:p>
            <a:pPr eaLnBrk="1" hangingPunct="1"/>
            <a:r>
              <a:rPr lang="en-US" altLang="en-US" sz="900" b="1" dirty="0">
                <a:solidFill>
                  <a:srgbClr val="003B6D"/>
                </a:solidFill>
                <a:cs typeface="Times New Roman" panose="02020603050405020304" pitchFamily="18" charset="0"/>
              </a:rPr>
              <a:t>Diet &amp; Exercise</a:t>
            </a:r>
          </a:p>
          <a:p>
            <a:pPr eaLnBrk="1" hangingPunct="1"/>
            <a:r>
              <a:rPr lang="en-US" altLang="en-US" sz="900" dirty="0">
                <a:solidFill>
                  <a:srgbClr val="000000"/>
                </a:solidFill>
                <a:cs typeface="Times New Roman" panose="02020603050405020304" pitchFamily="18" charset="0"/>
              </a:rPr>
              <a:t>Throughout dogs’ lifespans, they should generally be fed fewer meals as they mature. Puppies should be nursed the first two months, then introduced to three meals per day when they are about three to six months years old. Their food intake should be reduced to two meals per day when they are six months to one year old and finally reduced to one meal after they reach one year old. And a dog’s typical body mass is composed of somewhere between 60 and 70 percent water. The </a:t>
            </a:r>
            <a:r>
              <a:rPr lang="en-US" altLang="en-US" sz="900" u="sng" dirty="0">
                <a:solidFill>
                  <a:srgbClr val="0563C1"/>
                </a:solidFill>
                <a:cs typeface="Times New Roman" panose="02020603050405020304" pitchFamily="18" charset="0"/>
                <a:hlinkClick r:id="rId13"/>
              </a:rPr>
              <a:t>ASPCA</a:t>
            </a:r>
            <a:r>
              <a:rPr lang="en-US" altLang="en-US" sz="900" dirty="0">
                <a:solidFill>
                  <a:srgbClr val="000000"/>
                </a:solidFill>
                <a:cs typeface="Times New Roman" panose="02020603050405020304" pitchFamily="18" charset="0"/>
              </a:rPr>
              <a:t> says just a 10 percent decrease in body water can cause illness, and a 15 percent loss can cause death, so make sure you keep your pooch hydrated!</a:t>
            </a:r>
            <a:endParaRPr lang="en-US" altLang="en-US" sz="900" dirty="0">
              <a:cs typeface="Times New Roman" panose="02020603050405020304" pitchFamily="18" charset="0"/>
            </a:endParaRPr>
          </a:p>
          <a:p>
            <a:pPr eaLnBrk="1" hangingPunct="1"/>
            <a:r>
              <a:rPr lang="en-US" altLang="en-US" sz="900" dirty="0">
                <a:solidFill>
                  <a:srgbClr val="000000"/>
                </a:solidFill>
                <a:cs typeface="Times New Roman" panose="02020603050405020304" pitchFamily="18" charset="0"/>
              </a:rPr>
              <a:t> </a:t>
            </a:r>
            <a:endParaRPr lang="en-US" altLang="en-US" sz="900" dirty="0">
              <a:cs typeface="Times New Roman" panose="02020603050405020304" pitchFamily="18" charset="0"/>
            </a:endParaRPr>
          </a:p>
          <a:p>
            <a:pPr eaLnBrk="1" hangingPunct="1"/>
            <a:r>
              <a:rPr lang="en-US" altLang="en-US" sz="900" dirty="0">
                <a:solidFill>
                  <a:srgbClr val="000000"/>
                </a:solidFill>
                <a:cs typeface="Times New Roman" panose="02020603050405020304" pitchFamily="18" charset="0"/>
              </a:rPr>
              <a:t>Much like humans, dogs need to have a healthy level of activity to keep their organs healthy, as well as sun and fresh air. The minimum recommended time for exercise varies greatly with breed and size differences, but generally a range of 30–120 minutes of exercise is recommended per day.</a:t>
            </a:r>
            <a:endParaRPr lang="en-US" altLang="en-US" sz="900" dirty="0">
              <a:cs typeface="Times New Roman" panose="02020603050405020304" pitchFamily="18" charset="0"/>
            </a:endParaRPr>
          </a:p>
          <a:p>
            <a:pPr eaLnBrk="1" hangingPunct="1"/>
            <a:r>
              <a:rPr lang="en-US" altLang="en-US" sz="900" dirty="0">
                <a:solidFill>
                  <a:srgbClr val="000000"/>
                </a:solidFill>
                <a:cs typeface="Times New Roman" panose="02020603050405020304" pitchFamily="18" charset="0"/>
              </a:rPr>
              <a:t> </a:t>
            </a:r>
            <a:endParaRPr lang="en-US" altLang="en-US" sz="900" b="1" dirty="0">
              <a:cs typeface="Times New Roman" panose="02020603050405020304" pitchFamily="18" charset="0"/>
            </a:endParaRPr>
          </a:p>
          <a:p>
            <a:pPr eaLnBrk="1" hangingPunct="1"/>
            <a:r>
              <a:rPr lang="en-US" altLang="en-US" sz="900" b="1" dirty="0">
                <a:solidFill>
                  <a:srgbClr val="003B6D"/>
                </a:solidFill>
                <a:cs typeface="Times New Roman" panose="02020603050405020304" pitchFamily="18" charset="0"/>
              </a:rPr>
              <a:t>Grooming &amp; Handling</a:t>
            </a:r>
          </a:p>
          <a:p>
            <a:pPr eaLnBrk="1" hangingPunct="1"/>
            <a:r>
              <a:rPr lang="en-US" altLang="en-US" sz="900" dirty="0">
                <a:solidFill>
                  <a:srgbClr val="000000"/>
                </a:solidFill>
                <a:cs typeface="Times New Roman" panose="02020603050405020304" pitchFamily="18" charset="0"/>
              </a:rPr>
              <a:t>Keeping your furry family member clean is important to its health. So be sure to brush frequently to reduce the amount of shedding and prevent matted and tangled fur that can prove to be extremely difficult to remove. Check for insects such as ticks and fleas, especially after visiting heavily wooded areas. Rinse </a:t>
            </a:r>
            <a:r>
              <a:rPr lang="en-US" altLang="en-US" sz="900" b="1" dirty="0">
                <a:solidFill>
                  <a:srgbClr val="000000"/>
                </a:solidFill>
                <a:cs typeface="Times New Roman" panose="02020603050405020304" pitchFamily="18" charset="0"/>
              </a:rPr>
              <a:t>all</a:t>
            </a:r>
            <a:r>
              <a:rPr lang="en-US" altLang="en-US" sz="900" dirty="0">
                <a:solidFill>
                  <a:srgbClr val="000000"/>
                </a:solidFill>
                <a:cs typeface="Times New Roman" panose="02020603050405020304" pitchFamily="18" charset="0"/>
              </a:rPr>
              <a:t> of the soap out, as any residual soap can result in a rash. No matter the size of your dog, you need to be cautious as you carry your canine. If you have a small dog, then cradle the pup with one hand under the chest and the forearm supporting the back half. If it is a large dog, reach under the belly with both your arms perpendicular to the dog, and use each arm to support the chest and rear as you lift.</a:t>
            </a:r>
            <a:endParaRPr lang="en-US" altLang="en-US" sz="900" dirty="0">
              <a:cs typeface="Times New Roman" panose="02020603050405020304" pitchFamily="18" charset="0"/>
            </a:endParaRPr>
          </a:p>
          <a:p>
            <a:pPr eaLnBrk="1" hangingPunct="1"/>
            <a:r>
              <a:rPr lang="en-US" altLang="en-US" sz="900" dirty="0">
                <a:solidFill>
                  <a:srgbClr val="000000"/>
                </a:solidFill>
                <a:cs typeface="Times New Roman" panose="02020603050405020304" pitchFamily="18" charset="0"/>
              </a:rPr>
              <a:t> </a:t>
            </a:r>
            <a:endParaRPr lang="en-US" altLang="en-US" sz="900" b="1" dirty="0">
              <a:cs typeface="Times New Roman" panose="02020603050405020304" pitchFamily="18" charset="0"/>
            </a:endParaRPr>
          </a:p>
          <a:p>
            <a:pPr eaLnBrk="1" hangingPunct="1"/>
            <a:r>
              <a:rPr lang="en-US" altLang="en-US" sz="900" b="1" dirty="0">
                <a:solidFill>
                  <a:srgbClr val="003B6D"/>
                </a:solidFill>
                <a:cs typeface="Times New Roman" panose="02020603050405020304" pitchFamily="18" charset="0"/>
              </a:rPr>
              <a:t>Vaccinations &amp; Medications</a:t>
            </a:r>
          </a:p>
          <a:p>
            <a:pPr eaLnBrk="1" hangingPunct="1"/>
            <a:r>
              <a:rPr lang="en-US" altLang="en-US" sz="900" dirty="0">
                <a:solidFill>
                  <a:srgbClr val="000000"/>
                </a:solidFill>
                <a:cs typeface="Times New Roman" panose="02020603050405020304" pitchFamily="18" charset="0"/>
              </a:rPr>
              <a:t>You should </a:t>
            </a:r>
            <a:r>
              <a:rPr lang="en-US" altLang="en-US" sz="900" b="1" dirty="0">
                <a:solidFill>
                  <a:srgbClr val="000000"/>
                </a:solidFill>
                <a:cs typeface="Times New Roman" panose="02020603050405020304" pitchFamily="18" charset="0"/>
              </a:rPr>
              <a:t>always</a:t>
            </a:r>
            <a:r>
              <a:rPr lang="en-US" altLang="en-US" sz="900" dirty="0">
                <a:solidFill>
                  <a:srgbClr val="000000"/>
                </a:solidFill>
                <a:cs typeface="Times New Roman" panose="02020603050405020304" pitchFamily="18" charset="0"/>
              </a:rPr>
              <a:t> consult with your veterinarian, but there is a core set of vaccines that are typically recommended. Vaccines that reduce the exposure risk to things such as hepatitis, rabies, and parvovirus. Others may be determined by your vet depending on the environment in which the dog resides. Some of these include </a:t>
            </a:r>
            <a:r>
              <a:rPr lang="en-US" altLang="en-US" sz="900" u="sng" dirty="0">
                <a:solidFill>
                  <a:srgbClr val="0563C1"/>
                </a:solidFill>
                <a:cs typeface="Times New Roman" panose="02020603050405020304" pitchFamily="18" charset="0"/>
                <a:hlinkClick r:id="rId14"/>
              </a:rPr>
              <a:t>Bordetella </a:t>
            </a:r>
            <a:r>
              <a:rPr lang="en-US" altLang="en-US" sz="900" u="sng" dirty="0" err="1">
                <a:solidFill>
                  <a:srgbClr val="0563C1"/>
                </a:solidFill>
                <a:cs typeface="Times New Roman" panose="02020603050405020304" pitchFamily="18" charset="0"/>
                <a:hlinkClick r:id="rId14"/>
              </a:rPr>
              <a:t>bronchiseptica</a:t>
            </a:r>
            <a:r>
              <a:rPr lang="en-US" altLang="en-US" sz="900" u="sng" dirty="0">
                <a:solidFill>
                  <a:srgbClr val="0563C1"/>
                </a:solidFill>
                <a:cs typeface="Times New Roman" panose="02020603050405020304" pitchFamily="18" charset="0"/>
                <a:hlinkClick r:id="rId14"/>
              </a:rPr>
              <a:t>, Borrelia burgdorferi, and Leptospira bacteria</a:t>
            </a:r>
            <a:r>
              <a:rPr lang="en-US" altLang="en-US" sz="900" dirty="0">
                <a:solidFill>
                  <a:srgbClr val="000000"/>
                </a:solidFill>
                <a:cs typeface="Times New Roman" panose="02020603050405020304" pitchFamily="18" charset="0"/>
              </a:rPr>
              <a:t>.</a:t>
            </a:r>
            <a:endParaRPr lang="en-US" altLang="en-US" sz="900" dirty="0">
              <a:cs typeface="Times New Roman" panose="02020603050405020304" pitchFamily="18" charset="0"/>
            </a:endParaRPr>
          </a:p>
          <a:p>
            <a:pPr eaLnBrk="1" hangingPunct="1"/>
            <a:endParaRPr lang="en-US" altLang="en-US" sz="1200" dirty="0"/>
          </a:p>
        </p:txBody>
      </p:sp>
      <p:sp>
        <p:nvSpPr>
          <p:cNvPr id="15379" name="TextBox 27">
            <a:extLst>
              <a:ext uri="{FF2B5EF4-FFF2-40B4-BE49-F238E27FC236}">
                <a16:creationId xmlns:a16="http://schemas.microsoft.com/office/drawing/2014/main" id="{F2552A48-46E5-464D-01F5-E1C7490827AB}"/>
              </a:ext>
            </a:extLst>
          </p:cNvPr>
          <p:cNvSpPr txBox="1">
            <a:spLocks noChangeArrowheads="1"/>
          </p:cNvSpPr>
          <p:nvPr/>
        </p:nvSpPr>
        <p:spPr bwMode="auto">
          <a:xfrm>
            <a:off x="542925" y="1674813"/>
            <a:ext cx="2259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a:solidFill>
                  <a:srgbClr val="003B6D"/>
                </a:solidFill>
                <a:latin typeface="Lucida Calligraphy" panose="03010101010101010101" pitchFamily="66" charset="0"/>
                <a:cs typeface="Dreaming Outloud Script Pro" panose="03050502040304050704" pitchFamily="66" charset="0"/>
              </a:rPr>
              <a:t>Dogs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3D0474-F496-332C-C2A2-6CFB0B50B0FD}"/>
              </a:ext>
            </a:extLst>
          </p:cNvPr>
          <p:cNvSpPr/>
          <p:nvPr/>
        </p:nvSpPr>
        <p:spPr>
          <a:xfrm>
            <a:off x="0" y="0"/>
            <a:ext cx="12192000" cy="1495425"/>
          </a:xfrm>
          <a:prstGeom prst="rect">
            <a:avLst/>
          </a:prstGeom>
          <a:solidFill>
            <a:srgbClr val="003B6D"/>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6387" name="Picture 5" descr="A logo with blue and grey circles&#10;&#10;Description automatically generated">
            <a:extLst>
              <a:ext uri="{FF2B5EF4-FFF2-40B4-BE49-F238E27FC236}">
                <a16:creationId xmlns:a16="http://schemas.microsoft.com/office/drawing/2014/main" id="{5F07B8CD-FAED-E3B6-D8D6-4E3C2DF60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9550"/>
            <a:ext cx="2511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40356F57-7B5F-036D-F6F7-917CB750E6AC}"/>
              </a:ext>
            </a:extLst>
          </p:cNvPr>
          <p:cNvSpPr/>
          <p:nvPr/>
        </p:nvSpPr>
        <p:spPr>
          <a:xfrm>
            <a:off x="0" y="6362700"/>
            <a:ext cx="12192000" cy="495300"/>
          </a:xfrm>
          <a:prstGeom prst="rect">
            <a:avLst/>
          </a:prstGeom>
          <a:solidFill>
            <a:srgbClr val="6699CC"/>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389" name="TextBox 7">
            <a:extLst>
              <a:ext uri="{FF2B5EF4-FFF2-40B4-BE49-F238E27FC236}">
                <a16:creationId xmlns:a16="http://schemas.microsoft.com/office/drawing/2014/main" id="{0F17E2A2-474A-7F97-1F5B-27C8AE00125C}"/>
              </a:ext>
            </a:extLst>
          </p:cNvPr>
          <p:cNvSpPr txBox="1">
            <a:spLocks noChangeArrowheads="1"/>
          </p:cNvSpPr>
          <p:nvPr/>
        </p:nvSpPr>
        <p:spPr bwMode="auto">
          <a:xfrm>
            <a:off x="3138488" y="823913"/>
            <a:ext cx="826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chemeClr val="bg1"/>
                </a:solidFill>
                <a:latin typeface="Century Gothic" panose="020B0502020202020204" pitchFamily="34" charset="0"/>
              </a:rPr>
              <a:t>Home    Dogs    Cats    Birds    Pexperts</a:t>
            </a:r>
          </a:p>
        </p:txBody>
      </p:sp>
      <p:sp>
        <p:nvSpPr>
          <p:cNvPr id="16390" name="TextBox 8">
            <a:extLst>
              <a:ext uri="{FF2B5EF4-FFF2-40B4-BE49-F238E27FC236}">
                <a16:creationId xmlns:a16="http://schemas.microsoft.com/office/drawing/2014/main" id="{DE28A382-0370-E65E-354E-BD12FFF5EA7C}"/>
              </a:ext>
            </a:extLst>
          </p:cNvPr>
          <p:cNvSpPr txBox="1">
            <a:spLocks noChangeArrowheads="1"/>
          </p:cNvSpPr>
          <p:nvPr/>
        </p:nvSpPr>
        <p:spPr bwMode="auto">
          <a:xfrm>
            <a:off x="406400" y="6440488"/>
            <a:ext cx="293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chemeClr val="bg1"/>
                </a:solidFill>
                <a:latin typeface="Century Gothic" panose="020B0502020202020204" pitchFamily="34" charset="0"/>
              </a:rPr>
              <a:t>About Us     Contact Us</a:t>
            </a:r>
          </a:p>
        </p:txBody>
      </p:sp>
      <p:sp>
        <p:nvSpPr>
          <p:cNvPr id="16391" name="TextBox 9">
            <a:extLst>
              <a:ext uri="{FF2B5EF4-FFF2-40B4-BE49-F238E27FC236}">
                <a16:creationId xmlns:a16="http://schemas.microsoft.com/office/drawing/2014/main" id="{29A21D16-B8AA-6C59-A9AB-F2B011426838}"/>
              </a:ext>
            </a:extLst>
          </p:cNvPr>
          <p:cNvSpPr txBox="1">
            <a:spLocks noChangeArrowheads="1"/>
          </p:cNvSpPr>
          <p:nvPr/>
        </p:nvSpPr>
        <p:spPr bwMode="auto">
          <a:xfrm>
            <a:off x="4953000" y="6486525"/>
            <a:ext cx="2928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chemeClr val="bg1"/>
                </a:solidFill>
                <a:latin typeface="Century Gothic" panose="020B0502020202020204" pitchFamily="34" charset="0"/>
              </a:rPr>
              <a:t>@JennaGordon Enterprises</a:t>
            </a:r>
          </a:p>
        </p:txBody>
      </p:sp>
      <p:sp>
        <p:nvSpPr>
          <p:cNvPr id="13" name="Rectangle 12">
            <a:hlinkClick r:id="rId3" action="ppaction://hlinksldjump"/>
            <a:extLst>
              <a:ext uri="{FF2B5EF4-FFF2-40B4-BE49-F238E27FC236}">
                <a16:creationId xmlns:a16="http://schemas.microsoft.com/office/drawing/2014/main" id="{213B7CA6-03FF-D2EB-AB4F-D8C662949E07}"/>
              </a:ext>
            </a:extLst>
          </p:cNvPr>
          <p:cNvSpPr/>
          <p:nvPr/>
        </p:nvSpPr>
        <p:spPr>
          <a:xfrm>
            <a:off x="3138488" y="823913"/>
            <a:ext cx="1055687" cy="461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hlinkClick r:id="rId4" action="ppaction://hlinksldjump"/>
            <a:extLst>
              <a:ext uri="{FF2B5EF4-FFF2-40B4-BE49-F238E27FC236}">
                <a16:creationId xmlns:a16="http://schemas.microsoft.com/office/drawing/2014/main" id="{05A5639C-D6DF-1A6F-B9F5-11FD83219E21}"/>
              </a:ext>
            </a:extLst>
          </p:cNvPr>
          <p:cNvSpPr/>
          <p:nvPr/>
        </p:nvSpPr>
        <p:spPr>
          <a:xfrm>
            <a:off x="4337050" y="823913"/>
            <a:ext cx="969963"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D379D1DD-3007-83D3-BCA0-50EFB70F825D}"/>
              </a:ext>
            </a:extLst>
          </p:cNvPr>
          <p:cNvSpPr/>
          <p:nvPr/>
        </p:nvSpPr>
        <p:spPr>
          <a:xfrm>
            <a:off x="5465763" y="823913"/>
            <a:ext cx="87471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hlinkClick r:id="rId5" action="ppaction://hlinksldjump"/>
            <a:extLst>
              <a:ext uri="{FF2B5EF4-FFF2-40B4-BE49-F238E27FC236}">
                <a16:creationId xmlns:a16="http://schemas.microsoft.com/office/drawing/2014/main" id="{2B75E828-843A-586E-E866-7FCDA6180B95}"/>
              </a:ext>
            </a:extLst>
          </p:cNvPr>
          <p:cNvSpPr/>
          <p:nvPr/>
        </p:nvSpPr>
        <p:spPr>
          <a:xfrm>
            <a:off x="6499225" y="823913"/>
            <a:ext cx="873125"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hlinkClick r:id="rId6" action="ppaction://hlinksldjump"/>
            <a:extLst>
              <a:ext uri="{FF2B5EF4-FFF2-40B4-BE49-F238E27FC236}">
                <a16:creationId xmlns:a16="http://schemas.microsoft.com/office/drawing/2014/main" id="{2DBAB194-DD2D-2A2F-5136-7F221B6F7D90}"/>
              </a:ext>
            </a:extLst>
          </p:cNvPr>
          <p:cNvSpPr/>
          <p:nvPr/>
        </p:nvSpPr>
        <p:spPr>
          <a:xfrm>
            <a:off x="7488238" y="823913"/>
            <a:ext cx="140176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hlinkClick r:id="rId7" action="ppaction://hlinksldjump"/>
            <a:extLst>
              <a:ext uri="{FF2B5EF4-FFF2-40B4-BE49-F238E27FC236}">
                <a16:creationId xmlns:a16="http://schemas.microsoft.com/office/drawing/2014/main" id="{B3F9ABD4-8690-8B9F-8FD5-CD91E757C03B}"/>
              </a:ext>
            </a:extLst>
          </p:cNvPr>
          <p:cNvSpPr/>
          <p:nvPr/>
        </p:nvSpPr>
        <p:spPr>
          <a:xfrm>
            <a:off x="1584325" y="6324600"/>
            <a:ext cx="1403350"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hlinkClick r:id="rId8" action="ppaction://hlinksldjump"/>
            <a:extLst>
              <a:ext uri="{FF2B5EF4-FFF2-40B4-BE49-F238E27FC236}">
                <a16:creationId xmlns:a16="http://schemas.microsoft.com/office/drawing/2014/main" id="{16537D58-1995-B4C1-9CB6-52B334DA2E8C}"/>
              </a:ext>
            </a:extLst>
          </p:cNvPr>
          <p:cNvSpPr/>
          <p:nvPr/>
        </p:nvSpPr>
        <p:spPr>
          <a:xfrm>
            <a:off x="406400" y="6440488"/>
            <a:ext cx="1046163" cy="4175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6399" name="Picture 1" descr="A paw print on a blue background&#10;&#10;Description automatically generated">
            <a:extLst>
              <a:ext uri="{FF2B5EF4-FFF2-40B4-BE49-F238E27FC236}">
                <a16:creationId xmlns:a16="http://schemas.microsoft.com/office/drawing/2014/main" id="{57A5A0F4-0743-7962-BE67-953663B8777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3413" y="577850"/>
            <a:ext cx="327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0" name="Picture 11" descr="A cat lying on a bed&#10;&#10;Description automatically generated">
            <a:extLst>
              <a:ext uri="{FF2B5EF4-FFF2-40B4-BE49-F238E27FC236}">
                <a16:creationId xmlns:a16="http://schemas.microsoft.com/office/drawing/2014/main" id="{8397BD8C-6D86-EC62-EF94-BA0B87F2D58D}"/>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135813" y="1863725"/>
            <a:ext cx="2393950" cy="1797050"/>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pic>
        <p:nvPicPr>
          <p:cNvPr id="16401" name="Picture 21" descr="A cat sitting on a couch">
            <a:extLst>
              <a:ext uri="{FF2B5EF4-FFF2-40B4-BE49-F238E27FC236}">
                <a16:creationId xmlns:a16="http://schemas.microsoft.com/office/drawing/2014/main" id="{89B8985A-4265-2D72-A08C-7A6616AC9545}"/>
              </a:ext>
            </a:extLst>
          </p:cNvPr>
          <p:cNvPicPr>
            <a:picLocks noChangeAspect="1"/>
          </p:cNvPicPr>
          <p:nvPr/>
        </p:nvPicPr>
        <p:blipFill>
          <a:blip r:embed="rId11">
            <a:extLst>
              <a:ext uri="{28A0092B-C50C-407E-A947-70E740481C1C}">
                <a14:useLocalDpi xmlns:a14="http://schemas.microsoft.com/office/drawing/2010/main" val="0"/>
              </a:ext>
            </a:extLst>
          </a:blip>
          <a:srcRect l="10664" t="12498" r="33334" b="18500"/>
          <a:stretch>
            <a:fillRect/>
          </a:stretch>
        </p:blipFill>
        <p:spPr bwMode="auto">
          <a:xfrm>
            <a:off x="7135813" y="4029075"/>
            <a:ext cx="2393950" cy="1966913"/>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sp>
        <p:nvSpPr>
          <p:cNvPr id="16402" name="TextBox 22">
            <a:extLst>
              <a:ext uri="{FF2B5EF4-FFF2-40B4-BE49-F238E27FC236}">
                <a16:creationId xmlns:a16="http://schemas.microsoft.com/office/drawing/2014/main" id="{3D90A248-2F09-84A4-0703-64ED10405353}"/>
              </a:ext>
            </a:extLst>
          </p:cNvPr>
          <p:cNvSpPr txBox="1">
            <a:spLocks noChangeArrowheads="1"/>
          </p:cNvSpPr>
          <p:nvPr/>
        </p:nvSpPr>
        <p:spPr bwMode="auto">
          <a:xfrm>
            <a:off x="508000" y="1633538"/>
            <a:ext cx="215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a:solidFill>
                  <a:srgbClr val="003B6D"/>
                </a:solidFill>
                <a:latin typeface="Lucida Calligraphy" panose="03010101010101010101" pitchFamily="66" charset="0"/>
                <a:cs typeface="Dreaming Outloud Script Pro" panose="03050502040304050704" pitchFamily="66" charset="0"/>
              </a:rPr>
              <a:t>Cats</a:t>
            </a:r>
          </a:p>
        </p:txBody>
      </p:sp>
      <p:sp>
        <p:nvSpPr>
          <p:cNvPr id="26" name="TextBox 25">
            <a:extLst>
              <a:ext uri="{FF2B5EF4-FFF2-40B4-BE49-F238E27FC236}">
                <a16:creationId xmlns:a16="http://schemas.microsoft.com/office/drawing/2014/main" id="{E3915EEB-DC80-790D-5FB5-49AC02B4B06E}"/>
              </a:ext>
            </a:extLst>
          </p:cNvPr>
          <p:cNvSpPr txBox="1"/>
          <p:nvPr/>
        </p:nvSpPr>
        <p:spPr>
          <a:xfrm>
            <a:off x="481012" y="1954030"/>
            <a:ext cx="6490156" cy="4424545"/>
          </a:xfrm>
          <a:prstGeom prst="rect">
            <a:avLst/>
          </a:prstGeom>
          <a:noFill/>
        </p:spPr>
        <p:txBody>
          <a:bodyPr wrap="square">
            <a:spAutoFit/>
          </a:bodyPr>
          <a:lstStyle/>
          <a:p>
            <a:pPr eaLnBrk="1" fontAlgn="auto" hangingPunct="1">
              <a:spcBef>
                <a:spcPts val="0"/>
              </a:spcBef>
              <a:spcAft>
                <a:spcPts val="0"/>
              </a:spcAft>
              <a:defRPr/>
            </a:pPr>
            <a:r>
              <a:rPr lang="en-US" sz="900" dirty="0">
                <a:solidFill>
                  <a:srgbClr val="000000"/>
                </a:solidFill>
                <a:latin typeface="+mn-lt"/>
                <a:ea typeface="Times New Roman" panose="02020603050405020304" pitchFamily="18" charset="0"/>
              </a:rPr>
              <a:t>Cats were first domesticated around 7500 BCE in the western Asia region and are currently the second most popular domestic pet in the United States. While there are over 60 unique documented cat breeds, care and diet can differ between breeds. However, some diets and practices are generally recommended for the well-being of your fluffy family member regardless of breed.</a:t>
            </a:r>
            <a:endParaRPr lang="en-US" sz="900" dirty="0">
              <a:latin typeface="+mn-lt"/>
              <a:ea typeface="Times New Roman" panose="02020603050405020304" pitchFamily="18" charset="0"/>
            </a:endParaRPr>
          </a:p>
          <a:p>
            <a:pPr eaLnBrk="1" fontAlgn="auto" hangingPunct="1">
              <a:spcBef>
                <a:spcPts val="0"/>
              </a:spcBef>
              <a:spcAft>
                <a:spcPts val="0"/>
              </a:spcAft>
              <a:defRPr/>
            </a:pPr>
            <a:r>
              <a:rPr lang="en-US" sz="900" dirty="0">
                <a:solidFill>
                  <a:srgbClr val="000000"/>
                </a:solidFill>
                <a:latin typeface="+mn-lt"/>
                <a:ea typeface="Times New Roman" panose="02020603050405020304" pitchFamily="18" charset="0"/>
              </a:rPr>
              <a:t> </a:t>
            </a:r>
            <a:endParaRPr lang="en-US" sz="900" b="1" dirty="0">
              <a:latin typeface="+mn-lt"/>
              <a:ea typeface="Times New Roman" panose="02020603050405020304" pitchFamily="18" charset="0"/>
            </a:endParaRPr>
          </a:p>
          <a:p>
            <a:pPr eaLnBrk="1" fontAlgn="auto" hangingPunct="1">
              <a:spcBef>
                <a:spcPts val="0"/>
              </a:spcBef>
              <a:spcAft>
                <a:spcPts val="0"/>
              </a:spcAft>
              <a:defRPr/>
            </a:pPr>
            <a:r>
              <a:rPr lang="en-US" sz="900" b="1" dirty="0">
                <a:solidFill>
                  <a:srgbClr val="003B6D"/>
                </a:solidFill>
                <a:latin typeface="+mn-lt"/>
                <a:ea typeface="Times New Roman" panose="02020603050405020304" pitchFamily="18" charset="0"/>
              </a:rPr>
              <a:t>Zero to Four Weeks</a:t>
            </a:r>
          </a:p>
          <a:p>
            <a:pPr eaLnBrk="1" fontAlgn="auto" hangingPunct="1">
              <a:spcBef>
                <a:spcPts val="0"/>
              </a:spcBef>
              <a:spcAft>
                <a:spcPts val="0"/>
              </a:spcAft>
              <a:defRPr/>
            </a:pPr>
            <a:r>
              <a:rPr lang="en-US" sz="900" dirty="0">
                <a:solidFill>
                  <a:srgbClr val="000000"/>
                </a:solidFill>
                <a:latin typeface="+mn-lt"/>
                <a:ea typeface="Times New Roman" panose="02020603050405020304" pitchFamily="18" charset="0"/>
              </a:rPr>
              <a:t>It is important the queen (a term commonly used for a female cat that is either pregnant or nursing) directly nurse her young if possible. Monitor your kitten’s growth closely to make sure its growth rate is progressing steadily. If any kitten is not growing at a sufficient rate, a caretaker might need to feed the kitten directly either with a bottle or a feeding tube. Some reasons why kittens might not gain weight appropriately include the following:</a:t>
            </a:r>
            <a:endParaRPr lang="en-US" sz="900" dirty="0">
              <a:latin typeface="+mn-lt"/>
              <a:ea typeface="Times New Roman" panose="02020603050405020304" pitchFamily="18" charset="0"/>
            </a:endParaRPr>
          </a:p>
          <a:p>
            <a:pPr marL="342900" indent="-342900" eaLnBrk="1" fontAlgn="auto" hangingPunct="1">
              <a:lnSpc>
                <a:spcPct val="107000"/>
              </a:lnSpc>
              <a:spcBef>
                <a:spcPts val="0"/>
              </a:spcBef>
              <a:spcAft>
                <a:spcPts val="0"/>
              </a:spcAft>
              <a:buFont typeface="Symbol" panose="05050102010706020507" pitchFamily="18" charset="2"/>
              <a:buChar char=""/>
              <a:defRPr/>
            </a:pPr>
            <a:r>
              <a:rPr lang="en-US" sz="900" dirty="0">
                <a:solidFill>
                  <a:srgbClr val="000000"/>
                </a:solidFill>
                <a:latin typeface="+mn-lt"/>
                <a:ea typeface="Calibri" panose="020F0502020204030204" pitchFamily="34" charset="0"/>
                <a:cs typeface="Arial" panose="020B0604020202020204" pitchFamily="34" charset="0"/>
              </a:rPr>
              <a:t>too many other siblings are competing for mom's milk</a:t>
            </a:r>
            <a:endParaRPr lang="en-US" sz="900" dirty="0">
              <a:latin typeface="+mn-lt"/>
              <a:ea typeface="Calibri" panose="020F0502020204030204" pitchFamily="34" charset="0"/>
              <a:cs typeface="Arial" panose="020B0604020202020204" pitchFamily="34" charset="0"/>
            </a:endParaRPr>
          </a:p>
          <a:p>
            <a:pPr marL="342900" indent="-342900" eaLnBrk="1" fontAlgn="auto" hangingPunct="1">
              <a:lnSpc>
                <a:spcPct val="107000"/>
              </a:lnSpc>
              <a:spcBef>
                <a:spcPts val="0"/>
              </a:spcBef>
              <a:spcAft>
                <a:spcPts val="0"/>
              </a:spcAft>
              <a:buFont typeface="Symbol" panose="05050102010706020507" pitchFamily="18" charset="2"/>
              <a:buChar char=""/>
              <a:defRPr/>
            </a:pPr>
            <a:r>
              <a:rPr lang="en-US" sz="900" dirty="0">
                <a:solidFill>
                  <a:srgbClr val="000000"/>
                </a:solidFill>
                <a:latin typeface="+mn-lt"/>
                <a:ea typeface="Calibri" panose="020F0502020204030204" pitchFamily="34" charset="0"/>
                <a:cs typeface="Arial" panose="020B0604020202020204" pitchFamily="34" charset="0"/>
              </a:rPr>
              <a:t>gastrointestinal disease</a:t>
            </a:r>
            <a:endParaRPr lang="en-US" sz="900" dirty="0">
              <a:latin typeface="+mn-lt"/>
              <a:ea typeface="Calibri" panose="020F0502020204030204" pitchFamily="34" charset="0"/>
              <a:cs typeface="Arial" panose="020B0604020202020204" pitchFamily="34" charset="0"/>
            </a:endParaRPr>
          </a:p>
          <a:p>
            <a:pPr marL="342900" indent="-342900" eaLnBrk="1" fontAlgn="auto" hangingPunct="1">
              <a:lnSpc>
                <a:spcPct val="107000"/>
              </a:lnSpc>
              <a:spcBef>
                <a:spcPts val="0"/>
              </a:spcBef>
              <a:spcAft>
                <a:spcPts val="0"/>
              </a:spcAft>
              <a:buFont typeface="Symbol" panose="05050102010706020507" pitchFamily="18" charset="2"/>
              <a:buChar char=""/>
              <a:defRPr/>
            </a:pPr>
            <a:r>
              <a:rPr lang="en-US" sz="900" dirty="0">
                <a:solidFill>
                  <a:srgbClr val="000000"/>
                </a:solidFill>
                <a:latin typeface="+mn-lt"/>
                <a:ea typeface="Calibri" panose="020F0502020204030204" pitchFamily="34" charset="0"/>
                <a:cs typeface="Arial" panose="020B0604020202020204" pitchFamily="34" charset="0"/>
              </a:rPr>
              <a:t>environmental conditions such as extreme heat or cold, or unsanitary conditions</a:t>
            </a:r>
            <a:endParaRPr lang="en-US" sz="900" dirty="0">
              <a:latin typeface="+mn-lt"/>
              <a:ea typeface="Calibri" panose="020F0502020204030204" pitchFamily="34" charset="0"/>
              <a:cs typeface="Arial" panose="020B0604020202020204" pitchFamily="34" charset="0"/>
            </a:endParaRPr>
          </a:p>
          <a:p>
            <a:pPr eaLnBrk="1" fontAlgn="auto" hangingPunct="1">
              <a:lnSpc>
                <a:spcPct val="107000"/>
              </a:lnSpc>
              <a:spcBef>
                <a:spcPts val="0"/>
              </a:spcBef>
              <a:spcAft>
                <a:spcPts val="0"/>
              </a:spcAft>
              <a:defRPr/>
            </a:pPr>
            <a:r>
              <a:rPr lang="en-US" sz="900" dirty="0">
                <a:latin typeface="+mn-lt"/>
                <a:ea typeface="Calibri" panose="020F0502020204030204" pitchFamily="34" charset="0"/>
                <a:cs typeface="Arial" panose="020B0604020202020204" pitchFamily="34" charset="0"/>
              </a:rPr>
              <a:t> </a:t>
            </a:r>
          </a:p>
          <a:p>
            <a:pPr eaLnBrk="1" fontAlgn="auto" hangingPunct="1">
              <a:spcBef>
                <a:spcPts val="0"/>
              </a:spcBef>
              <a:spcAft>
                <a:spcPts val="0"/>
              </a:spcAft>
              <a:defRPr/>
            </a:pPr>
            <a:r>
              <a:rPr lang="en-US" sz="900" b="1" dirty="0">
                <a:solidFill>
                  <a:srgbClr val="003B6D"/>
                </a:solidFill>
                <a:latin typeface="+mn-lt"/>
                <a:ea typeface="Times New Roman" panose="02020603050405020304" pitchFamily="18" charset="0"/>
              </a:rPr>
              <a:t>Four Weeks to One Year</a:t>
            </a:r>
          </a:p>
          <a:p>
            <a:pPr eaLnBrk="1" fontAlgn="auto" hangingPunct="1">
              <a:spcBef>
                <a:spcPts val="0"/>
              </a:spcBef>
              <a:spcAft>
                <a:spcPts val="0"/>
              </a:spcAft>
              <a:defRPr/>
            </a:pPr>
            <a:r>
              <a:rPr lang="en-US" sz="900" dirty="0">
                <a:solidFill>
                  <a:srgbClr val="000000"/>
                </a:solidFill>
                <a:latin typeface="+mn-lt"/>
                <a:ea typeface="Times New Roman" panose="02020603050405020304" pitchFamily="18" charset="0"/>
              </a:rPr>
              <a:t>Kittens can start being introduced to soft wet kitten food typically around three to four weeks after birth. According to the </a:t>
            </a:r>
            <a:r>
              <a:rPr lang="en-US" sz="900" u="sng" dirty="0">
                <a:solidFill>
                  <a:srgbClr val="0563C1"/>
                </a:solidFill>
                <a:latin typeface="+mn-lt"/>
                <a:ea typeface="Times New Roman" panose="02020603050405020304" pitchFamily="18" charset="0"/>
                <a:hlinkClick r:id="rId12"/>
              </a:rPr>
              <a:t>ASPCA</a:t>
            </a:r>
            <a:r>
              <a:rPr lang="en-US" sz="900" dirty="0">
                <a:solidFill>
                  <a:srgbClr val="000000"/>
                </a:solidFill>
                <a:latin typeface="+mn-lt"/>
                <a:ea typeface="Times New Roman" panose="02020603050405020304" pitchFamily="18" charset="0"/>
              </a:rPr>
              <a:t>, kittens at this age should eat half to one cup of dry kitten food or six to nine ounces of wet kitten food per day. If your kitten has difficulties eating hard food, a small amount of water can be added to soften the food. Cat food that is optimized for kittens provides the additional nutrients that are needed for growth, energy, and wellness. Depending on the breed, your cat may have different dietary requirements. You should always consult with your veterinarian for recommendations.</a:t>
            </a:r>
            <a:endParaRPr lang="en-US" sz="900" dirty="0">
              <a:latin typeface="+mn-lt"/>
              <a:ea typeface="Times New Roman" panose="02020603050405020304" pitchFamily="18" charset="0"/>
            </a:endParaRPr>
          </a:p>
          <a:p>
            <a:pPr eaLnBrk="1" fontAlgn="auto" hangingPunct="1">
              <a:spcBef>
                <a:spcPts val="0"/>
              </a:spcBef>
              <a:spcAft>
                <a:spcPts val="0"/>
              </a:spcAft>
              <a:defRPr/>
            </a:pPr>
            <a:r>
              <a:rPr lang="en-US" sz="900" dirty="0">
                <a:solidFill>
                  <a:srgbClr val="000000"/>
                </a:solidFill>
                <a:latin typeface="+mn-lt"/>
                <a:ea typeface="Times New Roman" panose="02020603050405020304" pitchFamily="18" charset="0"/>
              </a:rPr>
              <a:t> </a:t>
            </a:r>
            <a:endParaRPr lang="en-US" sz="900" b="1" dirty="0">
              <a:latin typeface="+mn-lt"/>
              <a:ea typeface="Times New Roman" panose="02020603050405020304" pitchFamily="18" charset="0"/>
            </a:endParaRPr>
          </a:p>
          <a:p>
            <a:pPr eaLnBrk="1" fontAlgn="auto" hangingPunct="1">
              <a:spcBef>
                <a:spcPts val="0"/>
              </a:spcBef>
              <a:spcAft>
                <a:spcPts val="0"/>
              </a:spcAft>
              <a:defRPr/>
            </a:pPr>
            <a:r>
              <a:rPr lang="en-US" sz="900" b="1" dirty="0">
                <a:solidFill>
                  <a:srgbClr val="003B6D"/>
                </a:solidFill>
                <a:latin typeface="+mn-lt"/>
                <a:ea typeface="Times New Roman" panose="02020603050405020304" pitchFamily="18" charset="0"/>
              </a:rPr>
              <a:t>One Year to Seven Years</a:t>
            </a:r>
          </a:p>
          <a:p>
            <a:pPr eaLnBrk="1" fontAlgn="auto" hangingPunct="1">
              <a:spcBef>
                <a:spcPts val="0"/>
              </a:spcBef>
              <a:spcAft>
                <a:spcPts val="0"/>
              </a:spcAft>
              <a:defRPr/>
            </a:pPr>
            <a:r>
              <a:rPr lang="en-US" sz="900" dirty="0">
                <a:solidFill>
                  <a:srgbClr val="000000"/>
                </a:solidFill>
                <a:latin typeface="+mn-lt"/>
                <a:ea typeface="Times New Roman" panose="02020603050405020304" pitchFamily="18" charset="0"/>
              </a:rPr>
              <a:t>This age is when kittens reach the </a:t>
            </a:r>
            <a:r>
              <a:rPr lang="en-US" sz="900" i="1" dirty="0">
                <a:solidFill>
                  <a:srgbClr val="000000"/>
                </a:solidFill>
                <a:latin typeface="+mn-lt"/>
                <a:ea typeface="Times New Roman" panose="02020603050405020304" pitchFamily="18" charset="0"/>
              </a:rPr>
              <a:t>cat</a:t>
            </a:r>
            <a:r>
              <a:rPr lang="en-US" sz="900" dirty="0">
                <a:solidFill>
                  <a:srgbClr val="000000"/>
                </a:solidFill>
                <a:latin typeface="+mn-lt"/>
                <a:ea typeface="Times New Roman" panose="02020603050405020304" pitchFamily="18" charset="0"/>
              </a:rPr>
              <a:t> stage and do not need as many nutrients. At this age, their level of activity decreases, and so does their metabolism. It is </a:t>
            </a:r>
            <a:r>
              <a:rPr lang="en-US" sz="900" b="1" dirty="0">
                <a:solidFill>
                  <a:srgbClr val="000000"/>
                </a:solidFill>
                <a:latin typeface="+mn-lt"/>
                <a:ea typeface="Times New Roman" panose="02020603050405020304" pitchFamily="18" charset="0"/>
              </a:rPr>
              <a:t>not</a:t>
            </a:r>
            <a:r>
              <a:rPr lang="en-US" sz="900" dirty="0">
                <a:solidFill>
                  <a:srgbClr val="000000"/>
                </a:solidFill>
                <a:latin typeface="+mn-lt"/>
                <a:ea typeface="Times New Roman" panose="02020603050405020304" pitchFamily="18" charset="0"/>
              </a:rPr>
              <a:t> recommended to leave food out for the cats all day. Instead, provide food a couple times a day so they eat meals rather than snacking throughout the day. This practice reduces the risk of obesity and other weight-related feline ailments.</a:t>
            </a:r>
            <a:endParaRPr lang="en-US" sz="900" dirty="0">
              <a:latin typeface="+mn-lt"/>
              <a:ea typeface="Times New Roman" panose="02020603050405020304" pitchFamily="18" charset="0"/>
            </a:endParaRPr>
          </a:p>
          <a:p>
            <a:pPr eaLnBrk="1" fontAlgn="auto" hangingPunct="1">
              <a:spcBef>
                <a:spcPts val="0"/>
              </a:spcBef>
              <a:spcAft>
                <a:spcPts val="0"/>
              </a:spcAft>
              <a:defRPr/>
            </a:pPr>
            <a:r>
              <a:rPr lang="en-US" sz="900" dirty="0">
                <a:solidFill>
                  <a:srgbClr val="003B6D"/>
                </a:solidFill>
                <a:latin typeface="+mn-lt"/>
                <a:ea typeface="Times New Roman" panose="02020603050405020304" pitchFamily="18" charset="0"/>
              </a:rPr>
              <a:t> </a:t>
            </a:r>
            <a:endParaRPr lang="en-US" sz="900" b="1" dirty="0">
              <a:solidFill>
                <a:srgbClr val="003B6D"/>
              </a:solidFill>
              <a:latin typeface="+mn-lt"/>
              <a:ea typeface="Times New Roman" panose="02020603050405020304" pitchFamily="18" charset="0"/>
            </a:endParaRPr>
          </a:p>
          <a:p>
            <a:pPr eaLnBrk="1" fontAlgn="auto" hangingPunct="1">
              <a:spcBef>
                <a:spcPts val="0"/>
              </a:spcBef>
              <a:spcAft>
                <a:spcPts val="0"/>
              </a:spcAft>
              <a:defRPr/>
            </a:pPr>
            <a:r>
              <a:rPr lang="en-US" sz="900" b="1" dirty="0">
                <a:solidFill>
                  <a:srgbClr val="003B6D"/>
                </a:solidFill>
                <a:latin typeface="+mn-lt"/>
                <a:ea typeface="Times New Roman" panose="02020603050405020304" pitchFamily="18" charset="0"/>
              </a:rPr>
              <a:t>Seven Years and More</a:t>
            </a:r>
          </a:p>
          <a:p>
            <a:pPr eaLnBrk="1" fontAlgn="auto" hangingPunct="1">
              <a:spcBef>
                <a:spcPts val="0"/>
              </a:spcBef>
              <a:spcAft>
                <a:spcPts val="0"/>
              </a:spcAft>
              <a:defRPr/>
            </a:pPr>
            <a:r>
              <a:rPr lang="en-US" sz="900" dirty="0">
                <a:solidFill>
                  <a:srgbClr val="000000"/>
                </a:solidFill>
                <a:latin typeface="+mn-lt"/>
                <a:ea typeface="Times New Roman" panose="02020603050405020304" pitchFamily="18" charset="0"/>
              </a:rPr>
              <a:t>Much like many living organisms, the body begins to deteriorate and experience a lot of changes. Cats at this age should eat less fats and calories and more quality proteins. This means when you are purchasing packaged foods for your cat, look for food that states a particular protein (such as "salmon") and </a:t>
            </a:r>
            <a:r>
              <a:rPr lang="en-US" sz="900" b="1" dirty="0">
                <a:solidFill>
                  <a:srgbClr val="000000"/>
                </a:solidFill>
                <a:latin typeface="+mn-lt"/>
                <a:ea typeface="Times New Roman" panose="02020603050405020304" pitchFamily="18" charset="0"/>
              </a:rPr>
              <a:t>not</a:t>
            </a:r>
            <a:r>
              <a:rPr lang="en-US" sz="900" dirty="0">
                <a:solidFill>
                  <a:srgbClr val="000000"/>
                </a:solidFill>
                <a:latin typeface="+mn-lt"/>
                <a:ea typeface="Times New Roman" panose="02020603050405020304" pitchFamily="18" charset="0"/>
              </a:rPr>
              <a:t> just a category (such as fish). This usually means they are byproducts, or combinations, of lesser quality proteins.</a:t>
            </a:r>
            <a:endParaRPr lang="en-US" sz="900" dirty="0">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A0F27B5-5EF6-A439-7024-482980A70B24}"/>
              </a:ext>
            </a:extLst>
          </p:cNvPr>
          <p:cNvSpPr/>
          <p:nvPr/>
        </p:nvSpPr>
        <p:spPr>
          <a:xfrm>
            <a:off x="0" y="0"/>
            <a:ext cx="12192000" cy="1495425"/>
          </a:xfrm>
          <a:prstGeom prst="rect">
            <a:avLst/>
          </a:prstGeom>
          <a:solidFill>
            <a:srgbClr val="003B6D"/>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7411" name="Picture 5" descr="A logo with blue and grey circles&#10;&#10;Description automatically generated">
            <a:extLst>
              <a:ext uri="{FF2B5EF4-FFF2-40B4-BE49-F238E27FC236}">
                <a16:creationId xmlns:a16="http://schemas.microsoft.com/office/drawing/2014/main" id="{BBC2C078-C6AE-5149-E7DE-BA3C45EDD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9550"/>
            <a:ext cx="2511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734B4DED-80D9-C626-D54E-1B639DB67E92}"/>
              </a:ext>
            </a:extLst>
          </p:cNvPr>
          <p:cNvSpPr/>
          <p:nvPr/>
        </p:nvSpPr>
        <p:spPr>
          <a:xfrm>
            <a:off x="0" y="6362700"/>
            <a:ext cx="12192000" cy="495300"/>
          </a:xfrm>
          <a:prstGeom prst="rect">
            <a:avLst/>
          </a:prstGeom>
          <a:solidFill>
            <a:srgbClr val="6699CC"/>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413" name="TextBox 7">
            <a:extLst>
              <a:ext uri="{FF2B5EF4-FFF2-40B4-BE49-F238E27FC236}">
                <a16:creationId xmlns:a16="http://schemas.microsoft.com/office/drawing/2014/main" id="{FE780ED2-31EC-81A6-70D8-7B22ACCE42CF}"/>
              </a:ext>
            </a:extLst>
          </p:cNvPr>
          <p:cNvSpPr txBox="1">
            <a:spLocks noChangeArrowheads="1"/>
          </p:cNvSpPr>
          <p:nvPr/>
        </p:nvSpPr>
        <p:spPr bwMode="auto">
          <a:xfrm>
            <a:off x="3138488" y="823913"/>
            <a:ext cx="826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chemeClr val="bg1"/>
                </a:solidFill>
                <a:latin typeface="Century Gothic" panose="020B0502020202020204" pitchFamily="34" charset="0"/>
              </a:rPr>
              <a:t>Home    Dogs    Cats    Birds    Pexperts</a:t>
            </a:r>
          </a:p>
        </p:txBody>
      </p:sp>
      <p:sp>
        <p:nvSpPr>
          <p:cNvPr id="17414" name="TextBox 8">
            <a:extLst>
              <a:ext uri="{FF2B5EF4-FFF2-40B4-BE49-F238E27FC236}">
                <a16:creationId xmlns:a16="http://schemas.microsoft.com/office/drawing/2014/main" id="{185F0FA2-6622-377E-B95D-2E4D7D11D227}"/>
              </a:ext>
            </a:extLst>
          </p:cNvPr>
          <p:cNvSpPr txBox="1">
            <a:spLocks noChangeArrowheads="1"/>
          </p:cNvSpPr>
          <p:nvPr/>
        </p:nvSpPr>
        <p:spPr bwMode="auto">
          <a:xfrm>
            <a:off x="406400" y="6440488"/>
            <a:ext cx="293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chemeClr val="bg1"/>
                </a:solidFill>
                <a:latin typeface="Century Gothic" panose="020B0502020202020204" pitchFamily="34" charset="0"/>
              </a:rPr>
              <a:t>About Us     Contact Us</a:t>
            </a:r>
          </a:p>
        </p:txBody>
      </p:sp>
      <p:sp>
        <p:nvSpPr>
          <p:cNvPr id="17415" name="TextBox 9">
            <a:extLst>
              <a:ext uri="{FF2B5EF4-FFF2-40B4-BE49-F238E27FC236}">
                <a16:creationId xmlns:a16="http://schemas.microsoft.com/office/drawing/2014/main" id="{C2999A47-3185-86FA-E9A2-97C89157CC48}"/>
              </a:ext>
            </a:extLst>
          </p:cNvPr>
          <p:cNvSpPr txBox="1">
            <a:spLocks noChangeArrowheads="1"/>
          </p:cNvSpPr>
          <p:nvPr/>
        </p:nvSpPr>
        <p:spPr bwMode="auto">
          <a:xfrm>
            <a:off x="4953000" y="6486525"/>
            <a:ext cx="2928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chemeClr val="bg1"/>
                </a:solidFill>
                <a:latin typeface="Century Gothic" panose="020B0502020202020204" pitchFamily="34" charset="0"/>
              </a:rPr>
              <a:t>@JennaGordon Enterprises</a:t>
            </a:r>
          </a:p>
        </p:txBody>
      </p:sp>
      <p:sp>
        <p:nvSpPr>
          <p:cNvPr id="13" name="Rectangle 12">
            <a:hlinkClick r:id="rId3" action="ppaction://hlinksldjump"/>
            <a:extLst>
              <a:ext uri="{FF2B5EF4-FFF2-40B4-BE49-F238E27FC236}">
                <a16:creationId xmlns:a16="http://schemas.microsoft.com/office/drawing/2014/main" id="{88431951-8577-0E92-9561-30407C79D384}"/>
              </a:ext>
            </a:extLst>
          </p:cNvPr>
          <p:cNvSpPr/>
          <p:nvPr/>
        </p:nvSpPr>
        <p:spPr>
          <a:xfrm>
            <a:off x="3138488" y="823913"/>
            <a:ext cx="1055687" cy="461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hlinkClick r:id="rId4" action="ppaction://hlinksldjump"/>
            <a:extLst>
              <a:ext uri="{FF2B5EF4-FFF2-40B4-BE49-F238E27FC236}">
                <a16:creationId xmlns:a16="http://schemas.microsoft.com/office/drawing/2014/main" id="{D3CDA581-FE6B-F94F-FAC4-C2BE69B15DAE}"/>
              </a:ext>
            </a:extLst>
          </p:cNvPr>
          <p:cNvSpPr/>
          <p:nvPr/>
        </p:nvSpPr>
        <p:spPr>
          <a:xfrm>
            <a:off x="4337050" y="823913"/>
            <a:ext cx="969963"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hlinkClick r:id="rId5" action="ppaction://hlinksldjump"/>
            <a:extLst>
              <a:ext uri="{FF2B5EF4-FFF2-40B4-BE49-F238E27FC236}">
                <a16:creationId xmlns:a16="http://schemas.microsoft.com/office/drawing/2014/main" id="{03580650-4A0B-C966-01D3-1D75A5DE193B}"/>
              </a:ext>
            </a:extLst>
          </p:cNvPr>
          <p:cNvSpPr/>
          <p:nvPr/>
        </p:nvSpPr>
        <p:spPr>
          <a:xfrm>
            <a:off x="5465763" y="823913"/>
            <a:ext cx="87471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8B1008F0-A5A6-0913-CD88-81B78783CE23}"/>
              </a:ext>
            </a:extLst>
          </p:cNvPr>
          <p:cNvSpPr/>
          <p:nvPr/>
        </p:nvSpPr>
        <p:spPr>
          <a:xfrm>
            <a:off x="6499225" y="823913"/>
            <a:ext cx="873125"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hlinkClick r:id="rId6" action="ppaction://hlinksldjump"/>
            <a:extLst>
              <a:ext uri="{FF2B5EF4-FFF2-40B4-BE49-F238E27FC236}">
                <a16:creationId xmlns:a16="http://schemas.microsoft.com/office/drawing/2014/main" id="{A222EEAC-52B4-6E50-A27A-AAE90C35E0BE}"/>
              </a:ext>
            </a:extLst>
          </p:cNvPr>
          <p:cNvSpPr/>
          <p:nvPr/>
        </p:nvSpPr>
        <p:spPr>
          <a:xfrm>
            <a:off x="7488238" y="823913"/>
            <a:ext cx="140176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hlinkClick r:id="rId7" action="ppaction://hlinksldjump"/>
            <a:extLst>
              <a:ext uri="{FF2B5EF4-FFF2-40B4-BE49-F238E27FC236}">
                <a16:creationId xmlns:a16="http://schemas.microsoft.com/office/drawing/2014/main" id="{B1D7FD7D-5F3B-ED3B-4D95-CCACA5C62870}"/>
              </a:ext>
            </a:extLst>
          </p:cNvPr>
          <p:cNvSpPr/>
          <p:nvPr/>
        </p:nvSpPr>
        <p:spPr>
          <a:xfrm>
            <a:off x="1584325" y="6324600"/>
            <a:ext cx="1403350"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hlinkClick r:id="rId8" action="ppaction://hlinksldjump"/>
            <a:extLst>
              <a:ext uri="{FF2B5EF4-FFF2-40B4-BE49-F238E27FC236}">
                <a16:creationId xmlns:a16="http://schemas.microsoft.com/office/drawing/2014/main" id="{B5195B41-22E0-D5E4-0865-2F14C5402286}"/>
              </a:ext>
            </a:extLst>
          </p:cNvPr>
          <p:cNvSpPr/>
          <p:nvPr/>
        </p:nvSpPr>
        <p:spPr>
          <a:xfrm>
            <a:off x="406400" y="6440488"/>
            <a:ext cx="1046163" cy="4175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7423" name="Picture 1" descr="A paw print on a blue background&#10;&#10;Description automatically generated">
            <a:extLst>
              <a:ext uri="{FF2B5EF4-FFF2-40B4-BE49-F238E27FC236}">
                <a16:creationId xmlns:a16="http://schemas.microsoft.com/office/drawing/2014/main" id="{2B149C81-220B-33A4-5122-DC6DB16DAC1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1475" y="527050"/>
            <a:ext cx="327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A505C64-8962-777A-6C50-874AE927280C}"/>
              </a:ext>
            </a:extLst>
          </p:cNvPr>
          <p:cNvSpPr txBox="1"/>
          <p:nvPr/>
        </p:nvSpPr>
        <p:spPr>
          <a:xfrm>
            <a:off x="506413" y="2179638"/>
            <a:ext cx="3487737" cy="3899529"/>
          </a:xfrm>
          <a:prstGeom prst="rect">
            <a:avLst/>
          </a:prstGeom>
          <a:noFill/>
        </p:spPr>
        <p:txBody>
          <a:bodyPr>
            <a:spAutoFit/>
          </a:bodyPr>
          <a:lstStyle/>
          <a:p>
            <a:pPr eaLnBrk="1" fontAlgn="auto" hangingPunct="1">
              <a:lnSpc>
                <a:spcPct val="107000"/>
              </a:lnSpc>
              <a:spcBef>
                <a:spcPts val="0"/>
              </a:spcBef>
              <a:spcAft>
                <a:spcPts val="0"/>
              </a:spcAft>
              <a:defRPr/>
            </a:pPr>
            <a:r>
              <a:rPr lang="en-US" sz="1000" dirty="0">
                <a:solidFill>
                  <a:srgbClr val="000000"/>
                </a:solidFill>
                <a:latin typeface="+mn-lt"/>
                <a:ea typeface="Times New Roman" panose="02020603050405020304" pitchFamily="18" charset="0"/>
                <a:cs typeface="Times New Roman" panose="02020603050405020304" pitchFamily="18" charset="0"/>
              </a:rPr>
              <a:t>Birds are very intriguing creatures as they can range from birds as small as a Cuban bee hummingbird (about two inches long and a little over 1/20 of an ounce) to as large as an ostrich. While most birds fly, there are some that don’t. </a:t>
            </a:r>
          </a:p>
          <a:p>
            <a:pPr eaLnBrk="1" fontAlgn="auto" hangingPunct="1">
              <a:lnSpc>
                <a:spcPct val="107000"/>
              </a:lnSpc>
              <a:spcBef>
                <a:spcPts val="0"/>
              </a:spcBef>
              <a:spcAft>
                <a:spcPts val="0"/>
              </a:spcAft>
              <a:defRPr/>
            </a:pPr>
            <a:endParaRPr lang="en-US" sz="1000" dirty="0">
              <a:solidFill>
                <a:srgbClr val="000000"/>
              </a:solidFill>
              <a:latin typeface="+mn-lt"/>
              <a:ea typeface="Times New Roman" panose="02020603050405020304" pitchFamily="18" charset="0"/>
              <a:cs typeface="Times New Roman" panose="02020603050405020304" pitchFamily="18" charset="0"/>
            </a:endParaRPr>
          </a:p>
          <a:p>
            <a:pPr eaLnBrk="1" fontAlgn="auto" hangingPunct="1">
              <a:lnSpc>
                <a:spcPct val="107000"/>
              </a:lnSpc>
              <a:spcBef>
                <a:spcPts val="0"/>
              </a:spcBef>
              <a:spcAft>
                <a:spcPts val="0"/>
              </a:spcAft>
              <a:defRPr/>
            </a:pPr>
            <a:r>
              <a:rPr lang="en-US" sz="1000" dirty="0">
                <a:solidFill>
                  <a:srgbClr val="000000"/>
                </a:solidFill>
                <a:latin typeface="+mn-lt"/>
                <a:ea typeface="Times New Roman" panose="02020603050405020304" pitchFamily="18" charset="0"/>
                <a:cs typeface="Times New Roman" panose="02020603050405020304" pitchFamily="18" charset="0"/>
              </a:rPr>
              <a:t>Birds are amazing and each breed is unique in its own way, particularly when it comes to their relational needs and well-being. Unfortunately, birds can experience sadness and depression just like humans. A number of root causes may be responsible for your bird's depression such as an illness (either physical or mental), losing its companion, or increasingly becoming bored. Some signs to help identify if your bird is experiencing depression may include the following:</a:t>
            </a:r>
            <a:endParaRPr lang="en-US" sz="1000" dirty="0">
              <a:latin typeface="+mn-lt"/>
              <a:ea typeface="Calibri" panose="020F0502020204030204" pitchFamily="34" charset="0"/>
              <a:cs typeface="Arial" panose="020B0604020202020204" pitchFamily="34" charset="0"/>
            </a:endParaRPr>
          </a:p>
          <a:p>
            <a:pPr eaLnBrk="1" fontAlgn="auto" hangingPunct="1">
              <a:lnSpc>
                <a:spcPct val="107000"/>
              </a:lnSpc>
              <a:spcBef>
                <a:spcPts val="0"/>
              </a:spcBef>
              <a:spcAft>
                <a:spcPts val="0"/>
              </a:spcAft>
              <a:buSzPts val="1000"/>
              <a:tabLst>
                <a:tab pos="457200" algn="l"/>
              </a:tabLst>
              <a:defRPr/>
            </a:pPr>
            <a:r>
              <a:rPr lang="en-US" sz="1000" dirty="0">
                <a:solidFill>
                  <a:srgbClr val="000000"/>
                </a:solidFill>
                <a:latin typeface="+mn-lt"/>
                <a:ea typeface="Times New Roman" panose="02020603050405020304" pitchFamily="18" charset="0"/>
                <a:cs typeface="Times New Roman" panose="02020603050405020304" pitchFamily="18" charset="0"/>
              </a:rPr>
              <a:t>- reduced appetite</a:t>
            </a:r>
            <a:endParaRPr lang="en-US" sz="1000" dirty="0">
              <a:solidFill>
                <a:srgbClr val="000000"/>
              </a:solidFill>
              <a:latin typeface="+mn-lt"/>
              <a:ea typeface="Calibri" panose="020F0502020204030204" pitchFamily="34" charset="0"/>
              <a:cs typeface="Arial" panose="020B0604020202020204" pitchFamily="34" charset="0"/>
            </a:endParaRPr>
          </a:p>
          <a:p>
            <a:pPr eaLnBrk="1" fontAlgn="auto" hangingPunct="1">
              <a:lnSpc>
                <a:spcPct val="107000"/>
              </a:lnSpc>
              <a:spcBef>
                <a:spcPts val="0"/>
              </a:spcBef>
              <a:spcAft>
                <a:spcPts val="0"/>
              </a:spcAft>
              <a:buSzPts val="1000"/>
              <a:tabLst>
                <a:tab pos="457200" algn="l"/>
              </a:tabLst>
              <a:defRPr/>
            </a:pPr>
            <a:r>
              <a:rPr lang="en-US" sz="1000" dirty="0">
                <a:solidFill>
                  <a:srgbClr val="000000"/>
                </a:solidFill>
                <a:latin typeface="+mn-lt"/>
                <a:ea typeface="Times New Roman" panose="02020603050405020304" pitchFamily="18" charset="0"/>
                <a:cs typeface="Times New Roman" panose="02020603050405020304" pitchFamily="18" charset="0"/>
              </a:rPr>
              <a:t>- becoming increasingly irritable</a:t>
            </a:r>
            <a:endParaRPr lang="en-US" sz="1000" dirty="0">
              <a:solidFill>
                <a:srgbClr val="000000"/>
              </a:solidFill>
              <a:latin typeface="+mn-lt"/>
              <a:ea typeface="Calibri" panose="020F0502020204030204" pitchFamily="34" charset="0"/>
              <a:cs typeface="Arial" panose="020B0604020202020204" pitchFamily="34" charset="0"/>
            </a:endParaRPr>
          </a:p>
          <a:p>
            <a:pPr eaLnBrk="1" fontAlgn="auto" hangingPunct="1">
              <a:lnSpc>
                <a:spcPct val="107000"/>
              </a:lnSpc>
              <a:spcBef>
                <a:spcPts val="0"/>
              </a:spcBef>
              <a:spcAft>
                <a:spcPts val="0"/>
              </a:spcAft>
              <a:buSzPts val="1000"/>
              <a:tabLst>
                <a:tab pos="457200" algn="l"/>
              </a:tabLst>
              <a:defRPr/>
            </a:pPr>
            <a:r>
              <a:rPr lang="en-US" sz="1000" dirty="0">
                <a:solidFill>
                  <a:srgbClr val="000000"/>
                </a:solidFill>
                <a:latin typeface="+mn-lt"/>
                <a:ea typeface="Times New Roman" panose="02020603050405020304" pitchFamily="18" charset="0"/>
                <a:cs typeface="Times New Roman" panose="02020603050405020304" pitchFamily="18" charset="0"/>
              </a:rPr>
              <a:t>- aggressive behavior</a:t>
            </a:r>
            <a:endParaRPr lang="en-US" sz="1000" dirty="0">
              <a:solidFill>
                <a:srgbClr val="000000"/>
              </a:solidFill>
              <a:latin typeface="+mn-lt"/>
              <a:ea typeface="Calibri" panose="020F0502020204030204" pitchFamily="34" charset="0"/>
              <a:cs typeface="Arial" panose="020B0604020202020204" pitchFamily="34" charset="0"/>
            </a:endParaRPr>
          </a:p>
          <a:p>
            <a:pPr eaLnBrk="1" fontAlgn="auto" hangingPunct="1">
              <a:lnSpc>
                <a:spcPct val="107000"/>
              </a:lnSpc>
              <a:spcBef>
                <a:spcPts val="0"/>
              </a:spcBef>
              <a:spcAft>
                <a:spcPts val="0"/>
              </a:spcAft>
              <a:buSzPts val="1000"/>
              <a:tabLst>
                <a:tab pos="457200" algn="l"/>
              </a:tabLst>
              <a:defRPr/>
            </a:pPr>
            <a:r>
              <a:rPr lang="en-US" sz="1000" dirty="0">
                <a:solidFill>
                  <a:srgbClr val="000000"/>
                </a:solidFill>
                <a:latin typeface="+mn-lt"/>
                <a:ea typeface="Times New Roman" panose="02020603050405020304" pitchFamily="18" charset="0"/>
                <a:cs typeface="Times New Roman" panose="02020603050405020304" pitchFamily="18" charset="0"/>
              </a:rPr>
              <a:t>- songs have a different, more solemn tone</a:t>
            </a:r>
          </a:p>
          <a:p>
            <a:pPr marL="171450" indent="-171450" eaLnBrk="1" fontAlgn="auto" hangingPunct="1">
              <a:lnSpc>
                <a:spcPct val="107000"/>
              </a:lnSpc>
              <a:spcBef>
                <a:spcPts val="0"/>
              </a:spcBef>
              <a:spcAft>
                <a:spcPts val="0"/>
              </a:spcAft>
              <a:buSzPts val="1000"/>
              <a:buFontTx/>
              <a:buChar char="-"/>
              <a:tabLst>
                <a:tab pos="457200" algn="l"/>
              </a:tabLst>
              <a:defRPr/>
            </a:pPr>
            <a:endParaRPr lang="en-US" sz="1000" dirty="0">
              <a:solidFill>
                <a:srgbClr val="000000"/>
              </a:solidFill>
              <a:latin typeface="+mn-lt"/>
              <a:ea typeface="Calibri" panose="020F0502020204030204" pitchFamily="34" charset="0"/>
              <a:cs typeface="Arial" panose="020B0604020202020204" pitchFamily="34" charset="0"/>
            </a:endParaRPr>
          </a:p>
          <a:p>
            <a:pPr eaLnBrk="1" fontAlgn="auto" hangingPunct="1">
              <a:lnSpc>
                <a:spcPct val="107000"/>
              </a:lnSpc>
              <a:spcBef>
                <a:spcPts val="0"/>
              </a:spcBef>
              <a:spcAft>
                <a:spcPts val="0"/>
              </a:spcAft>
              <a:defRPr/>
            </a:pPr>
            <a:r>
              <a:rPr lang="en-US" sz="1000" dirty="0">
                <a:solidFill>
                  <a:srgbClr val="000000"/>
                </a:solidFill>
                <a:latin typeface="+mn-lt"/>
                <a:ea typeface="Times New Roman" panose="02020603050405020304" pitchFamily="18" charset="0"/>
                <a:cs typeface="Times New Roman" panose="02020603050405020304" pitchFamily="18" charset="0"/>
              </a:rPr>
              <a:t>Be sure to tell your veterinarian if you see signs of any of these symptoms. Just like many illnesses, identifying and treating the symptoms earlier may drastically increase the lifespan of your birdie.</a:t>
            </a:r>
            <a:endParaRPr lang="en-US" sz="1000" dirty="0">
              <a:latin typeface="+mn-lt"/>
              <a:ea typeface="Calibri" panose="020F0502020204030204" pitchFamily="34" charset="0"/>
              <a:cs typeface="Arial" panose="020B0604020202020204" pitchFamily="34" charset="0"/>
            </a:endParaRPr>
          </a:p>
          <a:p>
            <a:pPr eaLnBrk="1" fontAlgn="auto" hangingPunct="1">
              <a:spcBef>
                <a:spcPts val="0"/>
              </a:spcBef>
              <a:spcAft>
                <a:spcPts val="0"/>
              </a:spcAft>
              <a:defRPr/>
            </a:pPr>
            <a:endParaRPr lang="en-US" sz="1200" dirty="0">
              <a:latin typeface="+mn-lt"/>
            </a:endParaRPr>
          </a:p>
        </p:txBody>
      </p:sp>
      <p:pic>
        <p:nvPicPr>
          <p:cNvPr id="17425" name="Picture 11" descr="A bird with yellow and white feathers">
            <a:extLst>
              <a:ext uri="{FF2B5EF4-FFF2-40B4-BE49-F238E27FC236}">
                <a16:creationId xmlns:a16="http://schemas.microsoft.com/office/drawing/2014/main" id="{9F718360-99C4-36DE-CF10-82AAF74AA093}"/>
              </a:ext>
            </a:extLst>
          </p:cNvPr>
          <p:cNvPicPr>
            <a:picLocks noChangeAspect="1"/>
          </p:cNvPicPr>
          <p:nvPr/>
        </p:nvPicPr>
        <p:blipFill>
          <a:blip r:embed="rId10">
            <a:extLst>
              <a:ext uri="{28A0092B-C50C-407E-A947-70E740481C1C}">
                <a14:useLocalDpi xmlns:a14="http://schemas.microsoft.com/office/drawing/2010/main" val="0"/>
              </a:ext>
            </a:extLst>
          </a:blip>
          <a:srcRect l="17459" t="1398" r="31308" b="1135"/>
          <a:stretch>
            <a:fillRect/>
          </a:stretch>
        </p:blipFill>
        <p:spPr bwMode="auto">
          <a:xfrm>
            <a:off x="6573838" y="1870075"/>
            <a:ext cx="1828800" cy="2316163"/>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sp>
        <p:nvSpPr>
          <p:cNvPr id="17426" name="TextBox 13">
            <a:extLst>
              <a:ext uri="{FF2B5EF4-FFF2-40B4-BE49-F238E27FC236}">
                <a16:creationId xmlns:a16="http://schemas.microsoft.com/office/drawing/2014/main" id="{1E20DB20-C937-C877-8BAD-F70440E1B8E7}"/>
              </a:ext>
            </a:extLst>
          </p:cNvPr>
          <p:cNvSpPr txBox="1">
            <a:spLocks noChangeArrowheads="1"/>
          </p:cNvSpPr>
          <p:nvPr/>
        </p:nvSpPr>
        <p:spPr bwMode="auto">
          <a:xfrm>
            <a:off x="506413" y="1779588"/>
            <a:ext cx="21574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a:solidFill>
                  <a:srgbClr val="003B6D"/>
                </a:solidFill>
                <a:latin typeface="Lucida Calligraphy" panose="03010101010101010101" pitchFamily="66" charset="0"/>
                <a:cs typeface="Dreaming Outloud Script Pro" panose="03050502040304050704" pitchFamily="66" charset="0"/>
              </a:rPr>
              <a:t>Birds</a:t>
            </a:r>
          </a:p>
        </p:txBody>
      </p:sp>
      <p:pic>
        <p:nvPicPr>
          <p:cNvPr id="17427" name="Picture 22" descr="A closeup of a white cockatoo">
            <a:extLst>
              <a:ext uri="{FF2B5EF4-FFF2-40B4-BE49-F238E27FC236}">
                <a16:creationId xmlns:a16="http://schemas.microsoft.com/office/drawing/2014/main" id="{AD01D0EF-918F-B9B4-39A8-00A9FB261D0B}"/>
              </a:ext>
            </a:extLst>
          </p:cNvPr>
          <p:cNvPicPr>
            <a:picLocks noChangeAspect="1"/>
          </p:cNvPicPr>
          <p:nvPr/>
        </p:nvPicPr>
        <p:blipFill>
          <a:blip r:embed="rId11">
            <a:extLst>
              <a:ext uri="{28A0092B-C50C-407E-A947-70E740481C1C}">
                <a14:useLocalDpi xmlns:a14="http://schemas.microsoft.com/office/drawing/2010/main" val="0"/>
              </a:ext>
            </a:extLst>
          </a:blip>
          <a:srcRect l="4195" t="15822" r="1318" b="37514"/>
          <a:stretch>
            <a:fillRect/>
          </a:stretch>
        </p:blipFill>
        <p:spPr bwMode="auto">
          <a:xfrm>
            <a:off x="4368800" y="1870075"/>
            <a:ext cx="1828800" cy="2316163"/>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A81B30-A369-CECB-05F7-886958A84796}"/>
              </a:ext>
            </a:extLst>
          </p:cNvPr>
          <p:cNvSpPr/>
          <p:nvPr/>
        </p:nvSpPr>
        <p:spPr>
          <a:xfrm>
            <a:off x="0" y="0"/>
            <a:ext cx="12192000" cy="1495425"/>
          </a:xfrm>
          <a:prstGeom prst="rect">
            <a:avLst/>
          </a:prstGeom>
          <a:solidFill>
            <a:srgbClr val="003B6D"/>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8435" name="Picture 5" descr="A logo with blue and grey circles&#10;&#10;Description automatically generated">
            <a:extLst>
              <a:ext uri="{FF2B5EF4-FFF2-40B4-BE49-F238E27FC236}">
                <a16:creationId xmlns:a16="http://schemas.microsoft.com/office/drawing/2014/main" id="{89A78990-C99A-0E5F-B0DA-4CA3C8D76C9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600" y="209550"/>
            <a:ext cx="2511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EDA8DC2F-D841-03EA-8217-50BD71DD5489}"/>
              </a:ext>
            </a:extLst>
          </p:cNvPr>
          <p:cNvSpPr/>
          <p:nvPr/>
        </p:nvSpPr>
        <p:spPr>
          <a:xfrm>
            <a:off x="0" y="6362700"/>
            <a:ext cx="12192000" cy="495300"/>
          </a:xfrm>
          <a:prstGeom prst="rect">
            <a:avLst/>
          </a:prstGeom>
          <a:solidFill>
            <a:srgbClr val="6699CC"/>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437" name="TextBox 7">
            <a:extLst>
              <a:ext uri="{FF2B5EF4-FFF2-40B4-BE49-F238E27FC236}">
                <a16:creationId xmlns:a16="http://schemas.microsoft.com/office/drawing/2014/main" id="{229791F9-D0A3-D2C4-CA4D-0A601F106D8D}"/>
              </a:ext>
            </a:extLst>
          </p:cNvPr>
          <p:cNvSpPr txBox="1">
            <a:spLocks noChangeArrowheads="1"/>
          </p:cNvSpPr>
          <p:nvPr/>
        </p:nvSpPr>
        <p:spPr bwMode="auto">
          <a:xfrm>
            <a:off x="3138488" y="823913"/>
            <a:ext cx="826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chemeClr val="bg1"/>
                </a:solidFill>
                <a:latin typeface="Century Gothic" panose="020B0502020202020204" pitchFamily="34" charset="0"/>
              </a:rPr>
              <a:t>Home    Dogs    Cats    Birds    Pexperts</a:t>
            </a:r>
          </a:p>
        </p:txBody>
      </p:sp>
      <p:sp>
        <p:nvSpPr>
          <p:cNvPr id="18438" name="TextBox 8">
            <a:extLst>
              <a:ext uri="{FF2B5EF4-FFF2-40B4-BE49-F238E27FC236}">
                <a16:creationId xmlns:a16="http://schemas.microsoft.com/office/drawing/2014/main" id="{405671A1-259B-BCFF-0A57-7C78F4768FE3}"/>
              </a:ext>
            </a:extLst>
          </p:cNvPr>
          <p:cNvSpPr txBox="1">
            <a:spLocks noChangeArrowheads="1"/>
          </p:cNvSpPr>
          <p:nvPr/>
        </p:nvSpPr>
        <p:spPr bwMode="auto">
          <a:xfrm>
            <a:off x="406400" y="6440488"/>
            <a:ext cx="293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chemeClr val="bg1"/>
                </a:solidFill>
                <a:latin typeface="Century Gothic" panose="020B0502020202020204" pitchFamily="34" charset="0"/>
              </a:rPr>
              <a:t>About Us     Contact Us</a:t>
            </a:r>
          </a:p>
        </p:txBody>
      </p:sp>
      <p:sp>
        <p:nvSpPr>
          <p:cNvPr id="18439" name="TextBox 9">
            <a:extLst>
              <a:ext uri="{FF2B5EF4-FFF2-40B4-BE49-F238E27FC236}">
                <a16:creationId xmlns:a16="http://schemas.microsoft.com/office/drawing/2014/main" id="{76B88E30-7218-C677-3847-1A54E48119BE}"/>
              </a:ext>
            </a:extLst>
          </p:cNvPr>
          <p:cNvSpPr txBox="1">
            <a:spLocks noChangeArrowheads="1"/>
          </p:cNvSpPr>
          <p:nvPr/>
        </p:nvSpPr>
        <p:spPr bwMode="auto">
          <a:xfrm>
            <a:off x="4953000" y="6486525"/>
            <a:ext cx="2928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chemeClr val="bg1"/>
                </a:solidFill>
                <a:latin typeface="Century Gothic" panose="020B0502020202020204" pitchFamily="34" charset="0"/>
              </a:rPr>
              <a:t>@JennaGordon Enterprises</a:t>
            </a:r>
          </a:p>
        </p:txBody>
      </p:sp>
      <p:sp>
        <p:nvSpPr>
          <p:cNvPr id="13" name="Rectangle 12">
            <a:hlinkClick r:id="rId12" action="ppaction://hlinksldjump"/>
            <a:extLst>
              <a:ext uri="{FF2B5EF4-FFF2-40B4-BE49-F238E27FC236}">
                <a16:creationId xmlns:a16="http://schemas.microsoft.com/office/drawing/2014/main" id="{A0C9C689-60AC-7BBC-E803-A1D6695A7769}"/>
              </a:ext>
            </a:extLst>
          </p:cNvPr>
          <p:cNvSpPr/>
          <p:nvPr/>
        </p:nvSpPr>
        <p:spPr>
          <a:xfrm>
            <a:off x="3138488" y="823913"/>
            <a:ext cx="1055687" cy="461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hlinkClick r:id="rId13" action="ppaction://hlinksldjump"/>
            <a:extLst>
              <a:ext uri="{FF2B5EF4-FFF2-40B4-BE49-F238E27FC236}">
                <a16:creationId xmlns:a16="http://schemas.microsoft.com/office/drawing/2014/main" id="{B159E185-2B7F-2076-9DA7-4C49DC1973B0}"/>
              </a:ext>
            </a:extLst>
          </p:cNvPr>
          <p:cNvSpPr/>
          <p:nvPr/>
        </p:nvSpPr>
        <p:spPr>
          <a:xfrm>
            <a:off x="4337050" y="823913"/>
            <a:ext cx="969963"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hlinkClick r:id="rId14" action="ppaction://hlinksldjump"/>
            <a:extLst>
              <a:ext uri="{FF2B5EF4-FFF2-40B4-BE49-F238E27FC236}">
                <a16:creationId xmlns:a16="http://schemas.microsoft.com/office/drawing/2014/main" id="{6FC4BA3A-E4BC-E658-950E-52FEAFC68040}"/>
              </a:ext>
            </a:extLst>
          </p:cNvPr>
          <p:cNvSpPr/>
          <p:nvPr/>
        </p:nvSpPr>
        <p:spPr>
          <a:xfrm>
            <a:off x="5465763" y="823913"/>
            <a:ext cx="87471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hlinkClick r:id="rId15" action="ppaction://hlinksldjump"/>
            <a:extLst>
              <a:ext uri="{FF2B5EF4-FFF2-40B4-BE49-F238E27FC236}">
                <a16:creationId xmlns:a16="http://schemas.microsoft.com/office/drawing/2014/main" id="{7E8CF180-FEEB-2706-F9C2-80A595B60355}"/>
              </a:ext>
            </a:extLst>
          </p:cNvPr>
          <p:cNvSpPr/>
          <p:nvPr/>
        </p:nvSpPr>
        <p:spPr>
          <a:xfrm>
            <a:off x="6499225" y="823913"/>
            <a:ext cx="873125"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hlinkClick r:id="rId16" action="ppaction://hlinksldjump"/>
            <a:extLst>
              <a:ext uri="{FF2B5EF4-FFF2-40B4-BE49-F238E27FC236}">
                <a16:creationId xmlns:a16="http://schemas.microsoft.com/office/drawing/2014/main" id="{A185A315-CE50-8143-2816-6D96242C5AC2}"/>
              </a:ext>
            </a:extLst>
          </p:cNvPr>
          <p:cNvSpPr/>
          <p:nvPr/>
        </p:nvSpPr>
        <p:spPr>
          <a:xfrm>
            <a:off x="7488238" y="823913"/>
            <a:ext cx="140176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hlinkClick r:id="rId17" action="ppaction://hlinksldjump"/>
            <a:extLst>
              <a:ext uri="{FF2B5EF4-FFF2-40B4-BE49-F238E27FC236}">
                <a16:creationId xmlns:a16="http://schemas.microsoft.com/office/drawing/2014/main" id="{4E5A5997-8942-73A0-7751-EAB6738C3C51}"/>
              </a:ext>
            </a:extLst>
          </p:cNvPr>
          <p:cNvSpPr/>
          <p:nvPr/>
        </p:nvSpPr>
        <p:spPr>
          <a:xfrm>
            <a:off x="1584325" y="6324600"/>
            <a:ext cx="1403350"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hlinkClick r:id="rId18" action="ppaction://hlinksldjump"/>
            <a:extLst>
              <a:ext uri="{FF2B5EF4-FFF2-40B4-BE49-F238E27FC236}">
                <a16:creationId xmlns:a16="http://schemas.microsoft.com/office/drawing/2014/main" id="{FFF954C1-1B59-E138-B354-995E9FCEBA94}"/>
              </a:ext>
            </a:extLst>
          </p:cNvPr>
          <p:cNvSpPr/>
          <p:nvPr/>
        </p:nvSpPr>
        <p:spPr>
          <a:xfrm>
            <a:off x="406400" y="6440488"/>
            <a:ext cx="1046163" cy="4175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8447" name="Picture 1" descr="A paw print on a blue background&#10;&#10;Description automatically generated">
            <a:extLst>
              <a:ext uri="{FF2B5EF4-FFF2-40B4-BE49-F238E27FC236}">
                <a16:creationId xmlns:a16="http://schemas.microsoft.com/office/drawing/2014/main" id="{D49A6121-F3C1-61CB-4ACB-8DA1C3284E7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24813" y="577850"/>
            <a:ext cx="327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8" name="TextBox 2">
            <a:extLst>
              <a:ext uri="{FF2B5EF4-FFF2-40B4-BE49-F238E27FC236}">
                <a16:creationId xmlns:a16="http://schemas.microsoft.com/office/drawing/2014/main" id="{6AE7FBB2-F9F7-8586-D13F-82BA10587EAE}"/>
              </a:ext>
            </a:extLst>
          </p:cNvPr>
          <p:cNvSpPr txBox="1">
            <a:spLocks noChangeArrowheads="1"/>
          </p:cNvSpPr>
          <p:nvPr/>
        </p:nvSpPr>
        <p:spPr bwMode="auto">
          <a:xfrm>
            <a:off x="525337" y="2143125"/>
            <a:ext cx="300513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dirty="0"/>
              <a:t>Consult with the pet experts, or “</a:t>
            </a:r>
            <a:r>
              <a:rPr lang="en-US" altLang="en-US" sz="1000" dirty="0" err="1"/>
              <a:t>pexperts</a:t>
            </a:r>
            <a:r>
              <a:rPr lang="en-US" altLang="en-US" sz="1000" dirty="0"/>
              <a:t>!” Get your own, on-on-one consultation with an expert on your specific type of pet! Our “</a:t>
            </a:r>
            <a:r>
              <a:rPr lang="en-US" altLang="en-US" sz="1000" dirty="0" err="1"/>
              <a:t>pexperts</a:t>
            </a:r>
            <a:r>
              <a:rPr lang="en-US" altLang="en-US" sz="1000" dirty="0"/>
              <a:t>” are highly-trained in their fields and will be happy to talk to you about any concerns you have about your pet. </a:t>
            </a:r>
            <a:br>
              <a:rPr lang="en-US" altLang="en-US" sz="1000" dirty="0"/>
            </a:br>
            <a:br>
              <a:rPr lang="en-US" altLang="en-US" sz="1000" dirty="0"/>
            </a:br>
            <a:r>
              <a:rPr lang="en-US" altLang="en-US" sz="1000" dirty="0"/>
              <a:t>Please complete the form to the right and a “</a:t>
            </a:r>
            <a:r>
              <a:rPr lang="en-US" altLang="en-US" sz="1000" dirty="0" err="1"/>
              <a:t>pexpert</a:t>
            </a:r>
            <a:r>
              <a:rPr lang="en-US" altLang="en-US" sz="1000" dirty="0"/>
              <a:t>” will contact you within 48 hours. </a:t>
            </a:r>
          </a:p>
        </p:txBody>
      </p:sp>
      <p:sp>
        <p:nvSpPr>
          <p:cNvPr id="5" name="Rectangle 4">
            <a:extLst>
              <a:ext uri="{FF2B5EF4-FFF2-40B4-BE49-F238E27FC236}">
                <a16:creationId xmlns:a16="http://schemas.microsoft.com/office/drawing/2014/main" id="{D1CFCB0C-613B-6621-4804-EA4B6FC3E8F6}"/>
              </a:ext>
            </a:extLst>
          </p:cNvPr>
          <p:cNvSpPr/>
          <p:nvPr/>
        </p:nvSpPr>
        <p:spPr>
          <a:xfrm>
            <a:off x="4003675" y="1614488"/>
            <a:ext cx="3738563" cy="4654550"/>
          </a:xfrm>
          <a:prstGeom prst="rect">
            <a:avLst/>
          </a:prstGeom>
          <a:solidFill>
            <a:srgbClr val="BDBDBD"/>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A70EF64-B404-4408-7114-1B063191F02A}"/>
              </a:ext>
            </a:extLst>
          </p:cNvPr>
          <p:cNvSpPr/>
          <p:nvPr/>
        </p:nvSpPr>
        <p:spPr>
          <a:xfrm>
            <a:off x="4194175" y="1741488"/>
            <a:ext cx="3395663" cy="4411662"/>
          </a:xfrm>
          <a:prstGeom prst="rect">
            <a:avLst/>
          </a:prstGeom>
          <a:solidFill>
            <a:schemeClr val="bg1"/>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8451" name="Picture 13">
            <a:extLst>
              <a:ext uri="{FF2B5EF4-FFF2-40B4-BE49-F238E27FC236}">
                <a16:creationId xmlns:a16="http://schemas.microsoft.com/office/drawing/2014/main" id="{253CA304-4065-9A00-EF6C-F1DFD682536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91025" y="1801813"/>
            <a:ext cx="2962275"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52" name="TextBox 23">
            <a:extLst>
              <a:ext uri="{FF2B5EF4-FFF2-40B4-BE49-F238E27FC236}">
                <a16:creationId xmlns:a16="http://schemas.microsoft.com/office/drawing/2014/main" id="{CFE7876A-9933-777B-2D35-ACA19785C3BF}"/>
              </a:ext>
            </a:extLst>
          </p:cNvPr>
          <p:cNvSpPr txBox="1">
            <a:spLocks noChangeArrowheads="1"/>
          </p:cNvSpPr>
          <p:nvPr/>
        </p:nvSpPr>
        <p:spPr bwMode="auto">
          <a:xfrm>
            <a:off x="450850" y="1704975"/>
            <a:ext cx="3552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a:solidFill>
                  <a:srgbClr val="003B6D"/>
                </a:solidFill>
                <a:latin typeface="Lucida Calligraphy" panose="03010101010101010101" pitchFamily="66" charset="0"/>
                <a:cs typeface="Dreaming Outloud Script Pro" panose="03050502040304050704" pitchFamily="66" charset="0"/>
              </a:rPr>
              <a:t>Contact the Pexperts!</a:t>
            </a:r>
          </a:p>
        </p:txBody>
      </p:sp>
    </p:spTree>
    <p:controls>
      <mc:AlternateContent xmlns:mc="http://schemas.openxmlformats.org/markup-compatibility/2006">
        <mc:Choice xmlns:v="urn:schemas-microsoft-com:vml" Requires="v">
          <p:control name="TextBox1" r:id="rId1" imgW="1085760" imgH="142920"/>
        </mc:Choice>
        <mc:Fallback>
          <p:control name="TextBox1" r:id="rId1" imgW="1085760" imgH="142920">
            <p:pic>
              <p:nvPicPr>
                <p:cNvPr id="18453" name="TextBox1">
                  <a:extLst>
                    <a:ext uri="{FF2B5EF4-FFF2-40B4-BE49-F238E27FC236}">
                      <a16:creationId xmlns:a16="http://schemas.microsoft.com/office/drawing/2014/main" id="{08CF5303-11A7-F6B4-8DD1-49CC4839AF09}"/>
                    </a:ext>
                  </a:extLst>
                </p:cNvPr>
                <p:cNvPicPr preferRelativeResize="0">
                  <a:picLocks noChangeArrowheads="1" noChangeShapeType="1"/>
                </p:cNvPicPr>
                <p:nvPr/>
              </p:nvPicPr>
              <p:blipFill>
                <a:blip r:embed="rId21"/>
                <a:srcRect/>
                <a:stretch>
                  <a:fillRect/>
                </a:stretch>
              </p:blipFill>
              <p:spPr bwMode="auto">
                <a:xfrm>
                  <a:off x="4683125" y="2041525"/>
                  <a:ext cx="1087438" cy="1397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2" r:id="rId2" imgW="2352600" imgH="123840"/>
        </mc:Choice>
        <mc:Fallback>
          <p:control name="TextBox2" r:id="rId2" imgW="2352600" imgH="123840">
            <p:pic>
              <p:nvPicPr>
                <p:cNvPr id="18454" name="TextBox2">
                  <a:extLst>
                    <a:ext uri="{FF2B5EF4-FFF2-40B4-BE49-F238E27FC236}">
                      <a16:creationId xmlns:a16="http://schemas.microsoft.com/office/drawing/2014/main" id="{6B186D7C-436A-98C2-ACEA-80CC42FA41A9}"/>
                    </a:ext>
                  </a:extLst>
                </p:cNvPr>
                <p:cNvPicPr preferRelativeResize="0">
                  <a:picLocks noChangeArrowheads="1" noChangeShapeType="1"/>
                </p:cNvPicPr>
                <p:nvPr/>
              </p:nvPicPr>
              <p:blipFill>
                <a:blip r:embed="rId22"/>
                <a:srcRect/>
                <a:stretch>
                  <a:fillRect/>
                </a:stretch>
              </p:blipFill>
              <p:spPr bwMode="auto">
                <a:xfrm>
                  <a:off x="4683125" y="2573338"/>
                  <a:ext cx="2357438" cy="1270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3" r:id="rId3" imgW="1085760" imgH="142920"/>
        </mc:Choice>
        <mc:Fallback>
          <p:control name="TextBox3" r:id="rId3" imgW="1085760" imgH="142920">
            <p:pic>
              <p:nvPicPr>
                <p:cNvPr id="18455" name="TextBox3">
                  <a:extLst>
                    <a:ext uri="{FF2B5EF4-FFF2-40B4-BE49-F238E27FC236}">
                      <a16:creationId xmlns:a16="http://schemas.microsoft.com/office/drawing/2014/main" id="{F7A23C7C-7233-7B1A-11C0-A7FC64DB3DD2}"/>
                    </a:ext>
                  </a:extLst>
                </p:cNvPr>
                <p:cNvPicPr preferRelativeResize="0">
                  <a:picLocks noChangeArrowheads="1" noChangeShapeType="1"/>
                </p:cNvPicPr>
                <p:nvPr/>
              </p:nvPicPr>
              <p:blipFill>
                <a:blip r:embed="rId21"/>
                <a:srcRect/>
                <a:stretch>
                  <a:fillRect/>
                </a:stretch>
              </p:blipFill>
              <p:spPr bwMode="auto">
                <a:xfrm>
                  <a:off x="5962650" y="2035175"/>
                  <a:ext cx="1087438" cy="1397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4" r:id="rId4" imgW="2371680" imgH="142920"/>
        </mc:Choice>
        <mc:Fallback>
          <p:control name="TextBox4" r:id="rId4" imgW="2371680" imgH="142920">
            <p:pic>
              <p:nvPicPr>
                <p:cNvPr id="18456" name="TextBox4">
                  <a:extLst>
                    <a:ext uri="{FF2B5EF4-FFF2-40B4-BE49-F238E27FC236}">
                      <a16:creationId xmlns:a16="http://schemas.microsoft.com/office/drawing/2014/main" id="{9C9ABC9C-0681-C694-0D51-A1C605FB3C25}"/>
                    </a:ext>
                  </a:extLst>
                </p:cNvPr>
                <p:cNvPicPr preferRelativeResize="0">
                  <a:picLocks noChangeArrowheads="1" noChangeShapeType="1"/>
                </p:cNvPicPr>
                <p:nvPr/>
              </p:nvPicPr>
              <p:blipFill>
                <a:blip r:embed="rId23"/>
                <a:srcRect/>
                <a:stretch>
                  <a:fillRect/>
                </a:stretch>
              </p:blipFill>
              <p:spPr bwMode="auto">
                <a:xfrm>
                  <a:off x="4683125" y="3879850"/>
                  <a:ext cx="2366963" cy="1397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5" r:id="rId5" imgW="2371680" imgH="142920"/>
        </mc:Choice>
        <mc:Fallback>
          <p:control name="TextBox5" r:id="rId5" imgW="2371680" imgH="142920">
            <p:pic>
              <p:nvPicPr>
                <p:cNvPr id="18457" name="TextBox5">
                  <a:extLst>
                    <a:ext uri="{FF2B5EF4-FFF2-40B4-BE49-F238E27FC236}">
                      <a16:creationId xmlns:a16="http://schemas.microsoft.com/office/drawing/2014/main" id="{361C50B3-D54D-79AB-C93F-D58B5708D319}"/>
                    </a:ext>
                  </a:extLst>
                </p:cNvPr>
                <p:cNvPicPr preferRelativeResize="0">
                  <a:picLocks noChangeArrowheads="1" noChangeShapeType="1"/>
                </p:cNvPicPr>
                <p:nvPr/>
              </p:nvPicPr>
              <p:blipFill>
                <a:blip r:embed="rId23"/>
                <a:srcRect/>
                <a:stretch>
                  <a:fillRect/>
                </a:stretch>
              </p:blipFill>
              <p:spPr bwMode="auto">
                <a:xfrm>
                  <a:off x="4683125" y="4284663"/>
                  <a:ext cx="2366963" cy="1397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6" r:id="rId6" imgW="2371680" imgH="142920"/>
        </mc:Choice>
        <mc:Fallback>
          <p:control name="TextBox6" r:id="rId6" imgW="2371680" imgH="142920">
            <p:pic>
              <p:nvPicPr>
                <p:cNvPr id="18458" name="TextBox6">
                  <a:extLst>
                    <a:ext uri="{FF2B5EF4-FFF2-40B4-BE49-F238E27FC236}">
                      <a16:creationId xmlns:a16="http://schemas.microsoft.com/office/drawing/2014/main" id="{A0CC5783-D5C6-D804-9F00-D0073977CDC4}"/>
                    </a:ext>
                  </a:extLst>
                </p:cNvPr>
                <p:cNvPicPr preferRelativeResize="0">
                  <a:picLocks noChangeArrowheads="1" noChangeShapeType="1"/>
                </p:cNvPicPr>
                <p:nvPr/>
              </p:nvPicPr>
              <p:blipFill>
                <a:blip r:embed="rId23"/>
                <a:srcRect/>
                <a:stretch>
                  <a:fillRect/>
                </a:stretch>
              </p:blipFill>
              <p:spPr bwMode="auto">
                <a:xfrm>
                  <a:off x="4683125" y="4676775"/>
                  <a:ext cx="2366963" cy="1397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7" r:id="rId7" imgW="2428920" imgH="485640"/>
        </mc:Choice>
        <mc:Fallback>
          <p:control name="TextBox7" r:id="rId7" imgW="2428920" imgH="485640">
            <p:pic>
              <p:nvPicPr>
                <p:cNvPr id="18459" name="TextBox7">
                  <a:extLst>
                    <a:ext uri="{FF2B5EF4-FFF2-40B4-BE49-F238E27FC236}">
                      <a16:creationId xmlns:a16="http://schemas.microsoft.com/office/drawing/2014/main" id="{BC058AED-6E36-EB2B-8EA4-35A6548BF0A4}"/>
                    </a:ext>
                  </a:extLst>
                </p:cNvPr>
                <p:cNvPicPr preferRelativeResize="0">
                  <a:picLocks noChangeArrowheads="1" noChangeShapeType="1"/>
                </p:cNvPicPr>
                <p:nvPr/>
              </p:nvPicPr>
              <p:blipFill>
                <a:blip r:embed="rId24"/>
                <a:srcRect/>
                <a:stretch>
                  <a:fillRect/>
                </a:stretch>
              </p:blipFill>
              <p:spPr bwMode="auto">
                <a:xfrm>
                  <a:off x="4683125" y="5076825"/>
                  <a:ext cx="2425700" cy="484188"/>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8" r:id="rId8" imgW="2371680" imgH="142920"/>
        </mc:Choice>
        <mc:Fallback>
          <p:control name="TextBox8" r:id="rId8" imgW="2371680" imgH="142920">
            <p:pic>
              <p:nvPicPr>
                <p:cNvPr id="18460" name="TextBox8">
                  <a:extLst>
                    <a:ext uri="{FF2B5EF4-FFF2-40B4-BE49-F238E27FC236}">
                      <a16:creationId xmlns:a16="http://schemas.microsoft.com/office/drawing/2014/main" id="{8AE744A4-8818-8E50-F75D-3EC4674C1E50}"/>
                    </a:ext>
                  </a:extLst>
                </p:cNvPr>
                <p:cNvPicPr preferRelativeResize="0">
                  <a:picLocks noChangeArrowheads="1" noChangeShapeType="1"/>
                </p:cNvPicPr>
                <p:nvPr/>
              </p:nvPicPr>
              <p:blipFill>
                <a:blip r:embed="rId23"/>
                <a:srcRect/>
                <a:stretch>
                  <a:fillRect/>
                </a:stretch>
              </p:blipFill>
              <p:spPr bwMode="auto">
                <a:xfrm>
                  <a:off x="4683125" y="3079750"/>
                  <a:ext cx="2366963" cy="1397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mc:AlternateContent xmlns:mc="http://schemas.openxmlformats.org/markup-compatibility/2006">
        <mc:Choice xmlns:v="urn:schemas-microsoft-com:vml" Requires="v">
          <p:control name="TextBox9" r:id="rId9" imgW="2362320" imgH="123840"/>
        </mc:Choice>
        <mc:Fallback>
          <p:control name="TextBox9" r:id="rId9" imgW="2362320" imgH="123840">
            <p:pic>
              <p:nvPicPr>
                <p:cNvPr id="18461" name="TextBox9">
                  <a:extLst>
                    <a:ext uri="{FF2B5EF4-FFF2-40B4-BE49-F238E27FC236}">
                      <a16:creationId xmlns:a16="http://schemas.microsoft.com/office/drawing/2014/main" id="{C456EEA0-5D3E-FCE6-21D2-B9CE24BDD1B2}"/>
                    </a:ext>
                  </a:extLst>
                </p:cNvPr>
                <p:cNvPicPr preferRelativeResize="0">
                  <a:picLocks noChangeArrowheads="1" noChangeShapeType="1"/>
                </p:cNvPicPr>
                <p:nvPr/>
              </p:nvPicPr>
              <p:blipFill>
                <a:blip r:embed="rId25"/>
                <a:srcRect/>
                <a:stretch>
                  <a:fillRect/>
                </a:stretch>
              </p:blipFill>
              <p:spPr bwMode="auto">
                <a:xfrm>
                  <a:off x="4686300" y="3476625"/>
                  <a:ext cx="2363788" cy="1270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p:controls>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82AC43-9113-719D-74E7-ACCF62685872}"/>
              </a:ext>
            </a:extLst>
          </p:cNvPr>
          <p:cNvSpPr/>
          <p:nvPr/>
        </p:nvSpPr>
        <p:spPr>
          <a:xfrm>
            <a:off x="0" y="0"/>
            <a:ext cx="12192000" cy="1495425"/>
          </a:xfrm>
          <a:prstGeom prst="rect">
            <a:avLst/>
          </a:prstGeom>
          <a:solidFill>
            <a:srgbClr val="003B6D"/>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9459" name="Picture 5" descr="A logo with blue and grey circles&#10;&#10;Description automatically generated">
            <a:extLst>
              <a:ext uri="{FF2B5EF4-FFF2-40B4-BE49-F238E27FC236}">
                <a16:creationId xmlns:a16="http://schemas.microsoft.com/office/drawing/2014/main" id="{2877B42D-33CE-C65A-EE84-35C130DF1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9550"/>
            <a:ext cx="2511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A869BF3A-A32F-99B8-9E88-E9ABC626DAF6}"/>
              </a:ext>
            </a:extLst>
          </p:cNvPr>
          <p:cNvSpPr/>
          <p:nvPr/>
        </p:nvSpPr>
        <p:spPr>
          <a:xfrm>
            <a:off x="0" y="6362700"/>
            <a:ext cx="12192000" cy="495300"/>
          </a:xfrm>
          <a:prstGeom prst="rect">
            <a:avLst/>
          </a:prstGeom>
          <a:solidFill>
            <a:srgbClr val="6699CC"/>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461" name="TextBox 7">
            <a:extLst>
              <a:ext uri="{FF2B5EF4-FFF2-40B4-BE49-F238E27FC236}">
                <a16:creationId xmlns:a16="http://schemas.microsoft.com/office/drawing/2014/main" id="{ADE627F6-9311-B7EE-02D0-E2E79BE42DF4}"/>
              </a:ext>
            </a:extLst>
          </p:cNvPr>
          <p:cNvSpPr txBox="1">
            <a:spLocks noChangeArrowheads="1"/>
          </p:cNvSpPr>
          <p:nvPr/>
        </p:nvSpPr>
        <p:spPr bwMode="auto">
          <a:xfrm>
            <a:off x="3138488" y="823913"/>
            <a:ext cx="826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chemeClr val="bg1"/>
                </a:solidFill>
                <a:latin typeface="Century Gothic" panose="020B0502020202020204" pitchFamily="34" charset="0"/>
              </a:rPr>
              <a:t>Home    Dogs    Cats    Birds    Pexperts</a:t>
            </a:r>
          </a:p>
        </p:txBody>
      </p:sp>
      <p:sp>
        <p:nvSpPr>
          <p:cNvPr id="19462" name="TextBox 8">
            <a:extLst>
              <a:ext uri="{FF2B5EF4-FFF2-40B4-BE49-F238E27FC236}">
                <a16:creationId xmlns:a16="http://schemas.microsoft.com/office/drawing/2014/main" id="{59E1A370-8583-E9EA-0415-F68030194958}"/>
              </a:ext>
            </a:extLst>
          </p:cNvPr>
          <p:cNvSpPr txBox="1">
            <a:spLocks noChangeArrowheads="1"/>
          </p:cNvSpPr>
          <p:nvPr/>
        </p:nvSpPr>
        <p:spPr bwMode="auto">
          <a:xfrm>
            <a:off x="406400" y="6440488"/>
            <a:ext cx="293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chemeClr val="bg1"/>
                </a:solidFill>
                <a:latin typeface="Century Gothic" panose="020B0502020202020204" pitchFamily="34" charset="0"/>
              </a:rPr>
              <a:t>About Us     Contact Us</a:t>
            </a:r>
          </a:p>
        </p:txBody>
      </p:sp>
      <p:sp>
        <p:nvSpPr>
          <p:cNvPr id="19463" name="TextBox 9">
            <a:extLst>
              <a:ext uri="{FF2B5EF4-FFF2-40B4-BE49-F238E27FC236}">
                <a16:creationId xmlns:a16="http://schemas.microsoft.com/office/drawing/2014/main" id="{1ECDDBC8-B995-B91F-D072-C918FC236D79}"/>
              </a:ext>
            </a:extLst>
          </p:cNvPr>
          <p:cNvSpPr txBox="1">
            <a:spLocks noChangeArrowheads="1"/>
          </p:cNvSpPr>
          <p:nvPr/>
        </p:nvSpPr>
        <p:spPr bwMode="auto">
          <a:xfrm>
            <a:off x="4953000" y="6486525"/>
            <a:ext cx="2928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chemeClr val="bg1"/>
                </a:solidFill>
                <a:latin typeface="Century Gothic" panose="020B0502020202020204" pitchFamily="34" charset="0"/>
              </a:rPr>
              <a:t>@JennaGordon Enterprises</a:t>
            </a:r>
          </a:p>
        </p:txBody>
      </p:sp>
      <p:sp>
        <p:nvSpPr>
          <p:cNvPr id="13" name="Rectangle 12">
            <a:hlinkClick r:id="rId3" action="ppaction://hlinksldjump"/>
            <a:extLst>
              <a:ext uri="{FF2B5EF4-FFF2-40B4-BE49-F238E27FC236}">
                <a16:creationId xmlns:a16="http://schemas.microsoft.com/office/drawing/2014/main" id="{CD276BB9-ADDA-CF7C-EFF1-0A4AD35CEB51}"/>
              </a:ext>
            </a:extLst>
          </p:cNvPr>
          <p:cNvSpPr/>
          <p:nvPr/>
        </p:nvSpPr>
        <p:spPr>
          <a:xfrm>
            <a:off x="3138488" y="823913"/>
            <a:ext cx="1055687" cy="461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465" name="TextBox 14">
            <a:extLst>
              <a:ext uri="{FF2B5EF4-FFF2-40B4-BE49-F238E27FC236}">
                <a16:creationId xmlns:a16="http://schemas.microsoft.com/office/drawing/2014/main" id="{E9D8BF4D-52D3-E1CA-1945-DA28D61B39FD}"/>
              </a:ext>
            </a:extLst>
          </p:cNvPr>
          <p:cNvSpPr txBox="1">
            <a:spLocks noChangeArrowheads="1"/>
          </p:cNvSpPr>
          <p:nvPr/>
        </p:nvSpPr>
        <p:spPr bwMode="auto">
          <a:xfrm>
            <a:off x="481013" y="1868488"/>
            <a:ext cx="2657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a:solidFill>
                  <a:srgbClr val="003B6D"/>
                </a:solidFill>
                <a:latin typeface="Lucida Calligraphy" panose="03010101010101010101" pitchFamily="66" charset="0"/>
                <a:cs typeface="Dreaming Outloud Script Pro" panose="03050502040304050704" pitchFamily="66" charset="0"/>
              </a:rPr>
              <a:t>About Us</a:t>
            </a:r>
          </a:p>
        </p:txBody>
      </p:sp>
      <p:sp>
        <p:nvSpPr>
          <p:cNvPr id="16" name="Rectangle 15">
            <a:hlinkClick r:id="rId4" action="ppaction://hlinksldjump"/>
            <a:extLst>
              <a:ext uri="{FF2B5EF4-FFF2-40B4-BE49-F238E27FC236}">
                <a16:creationId xmlns:a16="http://schemas.microsoft.com/office/drawing/2014/main" id="{CE4E0275-BEB6-FB0A-5830-F594BC2FCBB2}"/>
              </a:ext>
            </a:extLst>
          </p:cNvPr>
          <p:cNvSpPr/>
          <p:nvPr/>
        </p:nvSpPr>
        <p:spPr>
          <a:xfrm>
            <a:off x="4337050" y="823913"/>
            <a:ext cx="969963"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hlinkClick r:id="rId5" action="ppaction://hlinksldjump"/>
            <a:extLst>
              <a:ext uri="{FF2B5EF4-FFF2-40B4-BE49-F238E27FC236}">
                <a16:creationId xmlns:a16="http://schemas.microsoft.com/office/drawing/2014/main" id="{EB63BD6B-C444-DAA2-0CB5-2DCFBEDF2D20}"/>
              </a:ext>
            </a:extLst>
          </p:cNvPr>
          <p:cNvSpPr/>
          <p:nvPr/>
        </p:nvSpPr>
        <p:spPr>
          <a:xfrm>
            <a:off x="5465763" y="823913"/>
            <a:ext cx="87471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hlinkClick r:id="rId6" action="ppaction://hlinksldjump"/>
            <a:extLst>
              <a:ext uri="{FF2B5EF4-FFF2-40B4-BE49-F238E27FC236}">
                <a16:creationId xmlns:a16="http://schemas.microsoft.com/office/drawing/2014/main" id="{34440DD1-01C9-7B5C-81FF-EA425546186C}"/>
              </a:ext>
            </a:extLst>
          </p:cNvPr>
          <p:cNvSpPr/>
          <p:nvPr/>
        </p:nvSpPr>
        <p:spPr>
          <a:xfrm>
            <a:off x="6499225" y="823913"/>
            <a:ext cx="873125"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hlinkClick r:id="rId7" action="ppaction://hlinksldjump"/>
            <a:extLst>
              <a:ext uri="{FF2B5EF4-FFF2-40B4-BE49-F238E27FC236}">
                <a16:creationId xmlns:a16="http://schemas.microsoft.com/office/drawing/2014/main" id="{003E90F4-BE26-7424-14AC-A3F427D03E4C}"/>
              </a:ext>
            </a:extLst>
          </p:cNvPr>
          <p:cNvSpPr/>
          <p:nvPr/>
        </p:nvSpPr>
        <p:spPr>
          <a:xfrm>
            <a:off x="7488238" y="823913"/>
            <a:ext cx="140176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hlinkClick r:id="rId8" action="ppaction://hlinksldjump"/>
            <a:extLst>
              <a:ext uri="{FF2B5EF4-FFF2-40B4-BE49-F238E27FC236}">
                <a16:creationId xmlns:a16="http://schemas.microsoft.com/office/drawing/2014/main" id="{FFF306CC-326C-EC3F-0157-0047B31F44AA}"/>
              </a:ext>
            </a:extLst>
          </p:cNvPr>
          <p:cNvSpPr/>
          <p:nvPr/>
        </p:nvSpPr>
        <p:spPr>
          <a:xfrm>
            <a:off x="1584325" y="6324600"/>
            <a:ext cx="1403350"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8DDA323D-290B-7273-56BE-216230C21A1A}"/>
              </a:ext>
            </a:extLst>
          </p:cNvPr>
          <p:cNvSpPr/>
          <p:nvPr/>
        </p:nvSpPr>
        <p:spPr>
          <a:xfrm>
            <a:off x="406400" y="6440488"/>
            <a:ext cx="1046163" cy="4175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5" name="Straight Connector 4">
            <a:extLst>
              <a:ext uri="{FF2B5EF4-FFF2-40B4-BE49-F238E27FC236}">
                <a16:creationId xmlns:a16="http://schemas.microsoft.com/office/drawing/2014/main" id="{A1002E62-318E-86B9-970D-AB31E511EFA8}"/>
              </a:ext>
            </a:extLst>
          </p:cNvPr>
          <p:cNvCxnSpPr>
            <a:cxnSpLocks/>
          </p:cNvCxnSpPr>
          <p:nvPr/>
        </p:nvCxnSpPr>
        <p:spPr>
          <a:xfrm>
            <a:off x="481013" y="6764338"/>
            <a:ext cx="9715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473" name="TextBox 11">
            <a:extLst>
              <a:ext uri="{FF2B5EF4-FFF2-40B4-BE49-F238E27FC236}">
                <a16:creationId xmlns:a16="http://schemas.microsoft.com/office/drawing/2014/main" id="{1B576301-EBE4-8E77-D056-9C930B19CF9E}"/>
              </a:ext>
            </a:extLst>
          </p:cNvPr>
          <p:cNvSpPr txBox="1">
            <a:spLocks noChangeArrowheads="1"/>
          </p:cNvSpPr>
          <p:nvPr/>
        </p:nvSpPr>
        <p:spPr bwMode="auto">
          <a:xfrm>
            <a:off x="481013" y="2268538"/>
            <a:ext cx="3167062"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u="sng" dirty="0">
                <a:solidFill>
                  <a:srgbClr val="676767"/>
                </a:solidFill>
                <a:cs typeface="Times New Roman" panose="02020603050405020304" pitchFamily="18" charset="0"/>
              </a:rPr>
              <a:t>Business Name</a:t>
            </a:r>
            <a:r>
              <a:rPr lang="en-US" altLang="en-US" sz="1000" dirty="0">
                <a:cs typeface="Times New Roman" panose="02020603050405020304" pitchFamily="18" charset="0"/>
              </a:rPr>
              <a:t>: Paradigm Pet Professionals</a:t>
            </a:r>
          </a:p>
          <a:p>
            <a:pPr eaLnBrk="1" hangingPunct="1"/>
            <a:r>
              <a:rPr lang="en-US" altLang="en-US" sz="1000" u="sng" dirty="0">
                <a:solidFill>
                  <a:srgbClr val="676767"/>
                </a:solidFill>
                <a:cs typeface="Times New Roman" panose="02020603050405020304" pitchFamily="18" charset="0"/>
              </a:rPr>
              <a:t>Slogan: </a:t>
            </a:r>
            <a:r>
              <a:rPr lang="en-US" altLang="en-US" sz="1000" dirty="0">
                <a:cs typeface="Times New Roman" panose="02020603050405020304" pitchFamily="18" charset="0"/>
              </a:rPr>
              <a:t>Evidence-based pet care advice for every pet lover</a:t>
            </a:r>
          </a:p>
          <a:p>
            <a:pPr eaLnBrk="1" hangingPunct="1"/>
            <a:r>
              <a:rPr lang="en-US" altLang="en-US" sz="1000" u="sng" dirty="0">
                <a:solidFill>
                  <a:srgbClr val="676767"/>
                </a:solidFill>
                <a:cs typeface="Times New Roman" panose="02020603050405020304" pitchFamily="18" charset="0"/>
              </a:rPr>
              <a:t>Brand Values: </a:t>
            </a:r>
            <a:r>
              <a:rPr lang="en-US" altLang="en-US" sz="1000" dirty="0">
                <a:cs typeface="Times New Roman" panose="02020603050405020304" pitchFamily="18" charset="0"/>
              </a:rPr>
              <a:t>Paradigm Pet Professionals has 12 years’ experience working with pet owners, certifications in pet health and nutrition, and customer recognition for outstanding support </a:t>
            </a:r>
          </a:p>
          <a:p>
            <a:pPr eaLnBrk="1" hangingPunct="1"/>
            <a:r>
              <a:rPr lang="en-US" altLang="en-US" sz="1000" u="sng" dirty="0">
                <a:solidFill>
                  <a:srgbClr val="676767"/>
                </a:solidFill>
                <a:cs typeface="Times New Roman" panose="02020603050405020304" pitchFamily="18" charset="0"/>
              </a:rPr>
              <a:t>Services: </a:t>
            </a:r>
            <a:r>
              <a:rPr lang="en-US" altLang="en-US" sz="1000" dirty="0">
                <a:cs typeface="Times New Roman" panose="02020603050405020304" pitchFamily="18" charset="0"/>
              </a:rPr>
              <a:t>virtual consultations and presentations, </a:t>
            </a:r>
            <a:r>
              <a:rPr lang="en-US" altLang="en-US" sz="1000" dirty="0">
                <a:cs typeface="Times New Roman" panose="02020603050405020304" pitchFamily="18" charset="0"/>
                <a:hlinkClick r:id="rId7" action="ppaction://hlinksldjump"/>
              </a:rPr>
              <a:t>one-on-one consultations </a:t>
            </a:r>
            <a:r>
              <a:rPr lang="en-US" altLang="en-US" sz="1000" dirty="0">
                <a:cs typeface="Times New Roman" panose="02020603050405020304" pitchFamily="18" charset="0"/>
              </a:rPr>
              <a:t>concerning individual pets, group presentations regarding general pet care (can be tailored to the needs of the group)</a:t>
            </a:r>
            <a:endParaRPr lang="en-US" altLang="en-US" sz="1000" dirty="0"/>
          </a:p>
        </p:txBody>
      </p:sp>
      <p:pic>
        <p:nvPicPr>
          <p:cNvPr id="19474" name="Picture 21" descr="A fish swimming in a tank">
            <a:extLst>
              <a:ext uri="{FF2B5EF4-FFF2-40B4-BE49-F238E27FC236}">
                <a16:creationId xmlns:a16="http://schemas.microsoft.com/office/drawing/2014/main" id="{DFE9B765-B8C8-BA72-1E44-336148A7277D}"/>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805613" y="1905000"/>
            <a:ext cx="2413000" cy="1608138"/>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pic>
        <p:nvPicPr>
          <p:cNvPr id="19475" name="Picture 23" descr="A ferret being fed by a hand">
            <a:extLst>
              <a:ext uri="{FF2B5EF4-FFF2-40B4-BE49-F238E27FC236}">
                <a16:creationId xmlns:a16="http://schemas.microsoft.com/office/drawing/2014/main" id="{646979D4-D7BA-9C71-9499-2EB3246F6AAD}"/>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100513" y="1905000"/>
            <a:ext cx="2413000" cy="1608138"/>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pic>
        <p:nvPicPr>
          <p:cNvPr id="19476" name="Picture 25" descr="Two guinea pigs eating carrots&#10;&#10;Description automatically generated">
            <a:extLst>
              <a:ext uri="{FF2B5EF4-FFF2-40B4-BE49-F238E27FC236}">
                <a16:creationId xmlns:a16="http://schemas.microsoft.com/office/drawing/2014/main" id="{148624C9-EF4C-DC75-54F9-A926D1437E9B}"/>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6805613" y="3781425"/>
            <a:ext cx="2413000" cy="1608138"/>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pic>
        <p:nvPicPr>
          <p:cNvPr id="19477" name="Picture 27" descr="A fish in a bowl&#10;&#10;Description automatically generated">
            <a:extLst>
              <a:ext uri="{FF2B5EF4-FFF2-40B4-BE49-F238E27FC236}">
                <a16:creationId xmlns:a16="http://schemas.microsoft.com/office/drawing/2014/main" id="{BF81D2C4-57B9-6106-B5F5-F8770D0DE61A}"/>
              </a:ext>
            </a:extLst>
          </p:cNvPr>
          <p:cNvPicPr>
            <a:picLocks noChangeAspect="1"/>
          </p:cNvPicPr>
          <p:nvPr/>
        </p:nvPicPr>
        <p:blipFill>
          <a:blip r:embed="rId12">
            <a:extLst>
              <a:ext uri="{28A0092B-C50C-407E-A947-70E740481C1C}">
                <a14:useLocalDpi xmlns:a14="http://schemas.microsoft.com/office/drawing/2010/main" val="0"/>
              </a:ext>
            </a:extLst>
          </a:blip>
          <a:srcRect l="11394" t="28427" r="19936" b="2528"/>
          <a:stretch>
            <a:fillRect/>
          </a:stretch>
        </p:blipFill>
        <p:spPr bwMode="auto">
          <a:xfrm>
            <a:off x="4100513" y="3779838"/>
            <a:ext cx="2413000" cy="1608137"/>
          </a:xfrm>
          <a:prstGeom prst="rect">
            <a:avLst/>
          </a:prstGeom>
          <a:noFill/>
          <a:ln w="38100">
            <a:solidFill>
              <a:srgbClr val="676767"/>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F84231-DB10-8ED8-B619-B0340E7CA963}"/>
              </a:ext>
            </a:extLst>
          </p:cNvPr>
          <p:cNvSpPr/>
          <p:nvPr/>
        </p:nvSpPr>
        <p:spPr>
          <a:xfrm>
            <a:off x="0" y="0"/>
            <a:ext cx="12192000" cy="1495425"/>
          </a:xfrm>
          <a:prstGeom prst="rect">
            <a:avLst/>
          </a:prstGeom>
          <a:solidFill>
            <a:srgbClr val="003B6D"/>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20483" name="Picture 5" descr="A logo with blue and grey circles&#10;&#10;Description automatically generated">
            <a:extLst>
              <a:ext uri="{FF2B5EF4-FFF2-40B4-BE49-F238E27FC236}">
                <a16:creationId xmlns:a16="http://schemas.microsoft.com/office/drawing/2014/main" id="{E173D9FB-1D95-63EA-1018-A59ACB6EB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9550"/>
            <a:ext cx="2511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07F7E2D1-CE87-43EF-C48C-00CC356A52AD}"/>
              </a:ext>
            </a:extLst>
          </p:cNvPr>
          <p:cNvSpPr/>
          <p:nvPr/>
        </p:nvSpPr>
        <p:spPr>
          <a:xfrm>
            <a:off x="0" y="6362700"/>
            <a:ext cx="12192000" cy="495300"/>
          </a:xfrm>
          <a:prstGeom prst="rect">
            <a:avLst/>
          </a:prstGeom>
          <a:solidFill>
            <a:srgbClr val="6699CC"/>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485" name="TextBox 7">
            <a:extLst>
              <a:ext uri="{FF2B5EF4-FFF2-40B4-BE49-F238E27FC236}">
                <a16:creationId xmlns:a16="http://schemas.microsoft.com/office/drawing/2014/main" id="{CDB25C48-8BCC-4825-C73C-EB9B2F72BEBC}"/>
              </a:ext>
            </a:extLst>
          </p:cNvPr>
          <p:cNvSpPr txBox="1">
            <a:spLocks noChangeArrowheads="1"/>
          </p:cNvSpPr>
          <p:nvPr/>
        </p:nvSpPr>
        <p:spPr bwMode="auto">
          <a:xfrm>
            <a:off x="3138488" y="823913"/>
            <a:ext cx="826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a:solidFill>
                  <a:schemeClr val="bg1"/>
                </a:solidFill>
                <a:latin typeface="Century Gothic" panose="020B0502020202020204" pitchFamily="34" charset="0"/>
              </a:rPr>
              <a:t>Home    Dogs    Cats    Birds    Pexperts</a:t>
            </a:r>
          </a:p>
        </p:txBody>
      </p:sp>
      <p:sp>
        <p:nvSpPr>
          <p:cNvPr id="20486" name="TextBox 8">
            <a:extLst>
              <a:ext uri="{FF2B5EF4-FFF2-40B4-BE49-F238E27FC236}">
                <a16:creationId xmlns:a16="http://schemas.microsoft.com/office/drawing/2014/main" id="{740DB599-CED9-A0FA-7364-EB8409FDC873}"/>
              </a:ext>
            </a:extLst>
          </p:cNvPr>
          <p:cNvSpPr txBox="1">
            <a:spLocks noChangeArrowheads="1"/>
          </p:cNvSpPr>
          <p:nvPr/>
        </p:nvSpPr>
        <p:spPr bwMode="auto">
          <a:xfrm>
            <a:off x="406400" y="6440488"/>
            <a:ext cx="293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chemeClr val="bg1"/>
                </a:solidFill>
                <a:latin typeface="Century Gothic" panose="020B0502020202020204" pitchFamily="34" charset="0"/>
              </a:rPr>
              <a:t>About Us     Contact Us</a:t>
            </a:r>
          </a:p>
        </p:txBody>
      </p:sp>
      <p:sp>
        <p:nvSpPr>
          <p:cNvPr id="20487" name="TextBox 9">
            <a:extLst>
              <a:ext uri="{FF2B5EF4-FFF2-40B4-BE49-F238E27FC236}">
                <a16:creationId xmlns:a16="http://schemas.microsoft.com/office/drawing/2014/main" id="{B0D34DD9-FB33-AFF3-49C9-7D8190C635EB}"/>
              </a:ext>
            </a:extLst>
          </p:cNvPr>
          <p:cNvSpPr txBox="1">
            <a:spLocks noChangeArrowheads="1"/>
          </p:cNvSpPr>
          <p:nvPr/>
        </p:nvSpPr>
        <p:spPr bwMode="auto">
          <a:xfrm>
            <a:off x="4953000" y="6486525"/>
            <a:ext cx="2928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chemeClr val="bg1"/>
                </a:solidFill>
                <a:latin typeface="Century Gothic" panose="020B0502020202020204" pitchFamily="34" charset="0"/>
              </a:rPr>
              <a:t>@JennaGordon Enterprises</a:t>
            </a:r>
          </a:p>
        </p:txBody>
      </p:sp>
      <p:sp>
        <p:nvSpPr>
          <p:cNvPr id="13" name="Rectangle 12">
            <a:hlinkClick r:id="rId4" action="ppaction://hlinksldjump"/>
            <a:extLst>
              <a:ext uri="{FF2B5EF4-FFF2-40B4-BE49-F238E27FC236}">
                <a16:creationId xmlns:a16="http://schemas.microsoft.com/office/drawing/2014/main" id="{EEDADD19-DFA2-2594-A136-33E6CCA204E5}"/>
              </a:ext>
            </a:extLst>
          </p:cNvPr>
          <p:cNvSpPr/>
          <p:nvPr/>
        </p:nvSpPr>
        <p:spPr>
          <a:xfrm>
            <a:off x="3138488" y="823913"/>
            <a:ext cx="1055687" cy="4619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489" name="TextBox 14">
            <a:extLst>
              <a:ext uri="{FF2B5EF4-FFF2-40B4-BE49-F238E27FC236}">
                <a16:creationId xmlns:a16="http://schemas.microsoft.com/office/drawing/2014/main" id="{5DBA3550-EBD8-1BF8-17AA-565004C29035}"/>
              </a:ext>
            </a:extLst>
          </p:cNvPr>
          <p:cNvSpPr txBox="1">
            <a:spLocks noChangeArrowheads="1"/>
          </p:cNvSpPr>
          <p:nvPr/>
        </p:nvSpPr>
        <p:spPr bwMode="auto">
          <a:xfrm>
            <a:off x="481013" y="1905000"/>
            <a:ext cx="2657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000">
                <a:solidFill>
                  <a:srgbClr val="003B6D"/>
                </a:solidFill>
                <a:latin typeface="Lucida Calligraphy" panose="03010101010101010101" pitchFamily="66" charset="0"/>
                <a:cs typeface="Dreaming Outloud Script Pro" panose="03050502040304050704" pitchFamily="66" charset="0"/>
              </a:rPr>
              <a:t>Contact Us</a:t>
            </a:r>
          </a:p>
        </p:txBody>
      </p:sp>
      <p:sp>
        <p:nvSpPr>
          <p:cNvPr id="16" name="Rectangle 15">
            <a:hlinkClick r:id="rId5" action="ppaction://hlinksldjump"/>
            <a:extLst>
              <a:ext uri="{FF2B5EF4-FFF2-40B4-BE49-F238E27FC236}">
                <a16:creationId xmlns:a16="http://schemas.microsoft.com/office/drawing/2014/main" id="{A4AB348A-FDBB-E08F-3B9E-3F559B53C9A6}"/>
              </a:ext>
            </a:extLst>
          </p:cNvPr>
          <p:cNvSpPr/>
          <p:nvPr/>
        </p:nvSpPr>
        <p:spPr>
          <a:xfrm>
            <a:off x="4337050" y="823913"/>
            <a:ext cx="969963"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hlinkClick r:id="rId6" action="ppaction://hlinksldjump"/>
            <a:extLst>
              <a:ext uri="{FF2B5EF4-FFF2-40B4-BE49-F238E27FC236}">
                <a16:creationId xmlns:a16="http://schemas.microsoft.com/office/drawing/2014/main" id="{750F7E69-A7AE-8EF4-CD25-4DA2C8E1A4A4}"/>
              </a:ext>
            </a:extLst>
          </p:cNvPr>
          <p:cNvSpPr/>
          <p:nvPr/>
        </p:nvSpPr>
        <p:spPr>
          <a:xfrm>
            <a:off x="5465763" y="823913"/>
            <a:ext cx="87471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hlinkClick r:id="rId7" action="ppaction://hlinksldjump"/>
            <a:extLst>
              <a:ext uri="{FF2B5EF4-FFF2-40B4-BE49-F238E27FC236}">
                <a16:creationId xmlns:a16="http://schemas.microsoft.com/office/drawing/2014/main" id="{04262EBA-6712-C1D1-B01C-3C405EF93BAF}"/>
              </a:ext>
            </a:extLst>
          </p:cNvPr>
          <p:cNvSpPr/>
          <p:nvPr/>
        </p:nvSpPr>
        <p:spPr>
          <a:xfrm>
            <a:off x="6499225" y="823913"/>
            <a:ext cx="873125"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hlinkClick r:id="rId8" action="ppaction://hlinksldjump"/>
            <a:extLst>
              <a:ext uri="{FF2B5EF4-FFF2-40B4-BE49-F238E27FC236}">
                <a16:creationId xmlns:a16="http://schemas.microsoft.com/office/drawing/2014/main" id="{9E5881EB-F0E6-F2EA-7CC3-FB14A880E64D}"/>
              </a:ext>
            </a:extLst>
          </p:cNvPr>
          <p:cNvSpPr/>
          <p:nvPr/>
        </p:nvSpPr>
        <p:spPr>
          <a:xfrm>
            <a:off x="7488238" y="823913"/>
            <a:ext cx="1401762"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2069BC08-8CFF-E2B9-9479-710AEBD5A275}"/>
              </a:ext>
            </a:extLst>
          </p:cNvPr>
          <p:cNvSpPr/>
          <p:nvPr/>
        </p:nvSpPr>
        <p:spPr>
          <a:xfrm>
            <a:off x="1584325" y="6324600"/>
            <a:ext cx="1403350" cy="53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hlinkClick r:id="rId9" action="ppaction://hlinksldjump"/>
            <a:extLst>
              <a:ext uri="{FF2B5EF4-FFF2-40B4-BE49-F238E27FC236}">
                <a16:creationId xmlns:a16="http://schemas.microsoft.com/office/drawing/2014/main" id="{F69AF834-96B9-B488-C1C4-7D94E1A42C87}"/>
              </a:ext>
            </a:extLst>
          </p:cNvPr>
          <p:cNvSpPr/>
          <p:nvPr/>
        </p:nvSpPr>
        <p:spPr>
          <a:xfrm>
            <a:off x="406400" y="6440488"/>
            <a:ext cx="1046163" cy="4175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5" name="Straight Connector 4">
            <a:extLst>
              <a:ext uri="{FF2B5EF4-FFF2-40B4-BE49-F238E27FC236}">
                <a16:creationId xmlns:a16="http://schemas.microsoft.com/office/drawing/2014/main" id="{D32C728E-0436-039D-3758-4ACD1E6B4E0D}"/>
              </a:ext>
            </a:extLst>
          </p:cNvPr>
          <p:cNvCxnSpPr>
            <a:cxnSpLocks/>
          </p:cNvCxnSpPr>
          <p:nvPr/>
        </p:nvCxnSpPr>
        <p:spPr>
          <a:xfrm>
            <a:off x="1658938" y="6764338"/>
            <a:ext cx="11652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497" name="TextBox 10">
            <a:extLst>
              <a:ext uri="{FF2B5EF4-FFF2-40B4-BE49-F238E27FC236}">
                <a16:creationId xmlns:a16="http://schemas.microsoft.com/office/drawing/2014/main" id="{6A651949-4040-3B6C-03AE-EC0E756CDC43}"/>
              </a:ext>
            </a:extLst>
          </p:cNvPr>
          <p:cNvSpPr txBox="1">
            <a:spLocks noChangeArrowheads="1"/>
          </p:cNvSpPr>
          <p:nvPr/>
        </p:nvSpPr>
        <p:spPr bwMode="auto">
          <a:xfrm>
            <a:off x="481013" y="2282944"/>
            <a:ext cx="4826000"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dirty="0">
                <a:solidFill>
                  <a:srgbClr val="003B6D"/>
                </a:solidFill>
              </a:rPr>
              <a:t>Phone:</a:t>
            </a:r>
          </a:p>
          <a:p>
            <a:pPr eaLnBrk="1" hangingPunct="1"/>
            <a:r>
              <a:rPr lang="en-US" altLang="en-US" sz="1000" dirty="0"/>
              <a:t>555-555-5555</a:t>
            </a:r>
          </a:p>
          <a:p>
            <a:pPr eaLnBrk="1" hangingPunct="1"/>
            <a:r>
              <a:rPr lang="en-US" altLang="en-US" sz="1000" dirty="0"/>
              <a:t>We’re available 9am – 6pm Eastern, Monday – Friday</a:t>
            </a:r>
          </a:p>
          <a:p>
            <a:pPr eaLnBrk="1" hangingPunct="1"/>
            <a:endParaRPr lang="en-US" altLang="en-US" sz="1000" dirty="0"/>
          </a:p>
          <a:p>
            <a:pPr eaLnBrk="1" hangingPunct="1"/>
            <a:r>
              <a:rPr lang="en-US" altLang="en-US" sz="1000" dirty="0">
                <a:solidFill>
                  <a:srgbClr val="003B6D"/>
                </a:solidFill>
              </a:rPr>
              <a:t>Email: </a:t>
            </a:r>
          </a:p>
          <a:p>
            <a:pPr eaLnBrk="1" hangingPunct="1"/>
            <a:r>
              <a:rPr lang="en-US" altLang="en-US" sz="1000" dirty="0">
                <a:hlinkClick r:id="rId10"/>
              </a:rPr>
              <a:t>PPP@notanemail.com</a:t>
            </a:r>
            <a:endParaRPr lang="en-US" altLang="en-US" sz="1000" dirty="0"/>
          </a:p>
          <a:p>
            <a:pPr eaLnBrk="1" hangingPunct="1"/>
            <a:endParaRPr lang="en-US" altLang="en-US" sz="1000" dirty="0"/>
          </a:p>
          <a:p>
            <a:pPr eaLnBrk="1" hangingPunct="1"/>
            <a:r>
              <a:rPr lang="en-US" altLang="en-US" sz="1000" dirty="0">
                <a:solidFill>
                  <a:srgbClr val="003B6D"/>
                </a:solidFill>
              </a:rPr>
              <a:t>Mailing address:</a:t>
            </a:r>
            <a:br>
              <a:rPr lang="en-US" altLang="en-US" sz="1000" dirty="0"/>
            </a:br>
            <a:r>
              <a:rPr lang="en-US" altLang="en-US" sz="1000" dirty="0"/>
              <a:t>Paradigm Pet Professionals</a:t>
            </a:r>
            <a:br>
              <a:rPr lang="en-US" altLang="en-US" sz="1000" dirty="0"/>
            </a:br>
            <a:r>
              <a:rPr lang="en-US" altLang="en-US" sz="1000" dirty="0"/>
              <a:t>P.O. Box 555</a:t>
            </a:r>
            <a:br>
              <a:rPr lang="en-US" altLang="en-US" sz="1000" dirty="0"/>
            </a:br>
            <a:r>
              <a:rPr lang="en-US" altLang="en-US" sz="1000" dirty="0"/>
              <a:t>Anywhere, NJ 55555</a:t>
            </a:r>
          </a:p>
          <a:p>
            <a:pPr eaLnBrk="1" hangingPunct="1"/>
            <a:endParaRPr lang="en-US" altLang="en-US" sz="1000" dirty="0"/>
          </a:p>
          <a:p>
            <a:pPr eaLnBrk="1" hangingPunct="1"/>
            <a:r>
              <a:rPr lang="en-US" altLang="en-US" sz="1000" dirty="0">
                <a:solidFill>
                  <a:srgbClr val="003B6D"/>
                </a:solidFill>
              </a:rPr>
              <a:t>Social Media:</a:t>
            </a:r>
            <a:br>
              <a:rPr lang="en-US" altLang="en-US" sz="1000" dirty="0"/>
            </a:br>
            <a:r>
              <a:rPr lang="en-US" altLang="en-US" sz="1000" dirty="0"/>
              <a:t>Facebook: </a:t>
            </a:r>
            <a:r>
              <a:rPr lang="en-US" altLang="en-US" sz="1000" dirty="0">
                <a:hlinkClick r:id="rId11"/>
              </a:rPr>
              <a:t>http://www.facebook.com/paradigmpetprofessionals</a:t>
            </a:r>
            <a:endParaRPr lang="en-US" altLang="en-US" sz="1000" dirty="0"/>
          </a:p>
          <a:p>
            <a:pPr eaLnBrk="1" hangingPunct="1"/>
            <a:r>
              <a:rPr lang="en-US" altLang="en-US" sz="1000" dirty="0"/>
              <a:t>Instagram: </a:t>
            </a:r>
            <a:r>
              <a:rPr lang="en-US" altLang="en-US" sz="1000" dirty="0">
                <a:hlinkClick r:id="rId12"/>
              </a:rPr>
              <a:t>http://www.Instagram.com/therealparadigmpetpros</a:t>
            </a:r>
            <a:endParaRPr lang="en-US" altLang="en-US" sz="1000" dirty="0"/>
          </a:p>
          <a:p>
            <a:pPr eaLnBrk="1" hangingPunct="1"/>
            <a:r>
              <a:rPr lang="en-US" altLang="en-US" sz="1000" dirty="0"/>
              <a:t>X/Twitter: </a:t>
            </a:r>
            <a:r>
              <a:rPr lang="en-US" altLang="en-US" sz="1000" dirty="0">
                <a:hlinkClick r:id="rId13"/>
              </a:rPr>
              <a:t>http://www.twitter.com/PPP-NJ</a:t>
            </a:r>
            <a:br>
              <a:rPr lang="en-US" altLang="en-US" sz="1000" dirty="0"/>
            </a:br>
            <a:r>
              <a:rPr lang="en-US" altLang="en-US" sz="1000" dirty="0"/>
              <a:t>Discord: </a:t>
            </a:r>
            <a:r>
              <a:rPr lang="en-US" altLang="en-US" sz="1000" dirty="0">
                <a:hlinkClick r:id="rId14"/>
              </a:rPr>
              <a:t>http://www.discordapp.com/users/PPP-NJ</a:t>
            </a:r>
            <a:endParaRPr lang="en-US" altLang="en-US" sz="1000" dirty="0"/>
          </a:p>
          <a:p>
            <a:pPr eaLnBrk="1" hangingPunct="1"/>
            <a:endParaRPr lang="en-US" altLang="en-US" sz="1200" dirty="0"/>
          </a:p>
        </p:txBody>
      </p:sp>
      <p:pic>
        <p:nvPicPr>
          <p:cNvPr id="20498" name="Picture 13" descr="A sign with a headphone and a microphone&#10;&#10;Description automatically generated">
            <a:extLst>
              <a:ext uri="{FF2B5EF4-FFF2-40B4-BE49-F238E27FC236}">
                <a16:creationId xmlns:a16="http://schemas.microsoft.com/office/drawing/2014/main" id="{3C4E46E4-CF74-3B49-C569-85E701F0ED49}"/>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5780088" y="1952625"/>
            <a:ext cx="2209800" cy="2865438"/>
          </a:xfrm>
          <a:prstGeom prst="rect">
            <a:avLst/>
          </a:prstGeom>
          <a:noFill/>
          <a:ln w="76200">
            <a:solidFill>
              <a:srgbClr val="676767"/>
            </a:solidFill>
            <a:miter lim="800000"/>
            <a:headEnd/>
            <a:tailEnd/>
          </a:ln>
          <a:extLst>
            <a:ext uri="{909E8E84-426E-40DD-AFC4-6F175D3DCCD1}">
              <a14:hiddenFill xmlns:a14="http://schemas.microsoft.com/office/drawing/2010/main">
                <a:solidFill>
                  <a:srgbClr val="FFFFFF"/>
                </a:solidFill>
              </a14:hiddenFill>
            </a:ext>
          </a:extLst>
        </p:spPr>
      </p:pic>
      <p:sp>
        <p:nvSpPr>
          <p:cNvPr id="20499" name="TextBox 21">
            <a:extLst>
              <a:ext uri="{FF2B5EF4-FFF2-40B4-BE49-F238E27FC236}">
                <a16:creationId xmlns:a16="http://schemas.microsoft.com/office/drawing/2014/main" id="{3BE21151-0F40-3FD0-526E-E9376C7B4CFC}"/>
              </a:ext>
            </a:extLst>
          </p:cNvPr>
          <p:cNvSpPr txBox="1">
            <a:spLocks noChangeArrowheads="1"/>
          </p:cNvSpPr>
          <p:nvPr/>
        </p:nvSpPr>
        <p:spPr bwMode="auto">
          <a:xfrm>
            <a:off x="5780088" y="4945063"/>
            <a:ext cx="22875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t>Want “pexpert” advice? </a:t>
            </a:r>
          </a:p>
          <a:p>
            <a:pPr eaLnBrk="1" hangingPunct="1"/>
            <a:r>
              <a:rPr lang="en-US" altLang="en-US" sz="1200">
                <a:hlinkClick r:id="rId8" action="ppaction://hlinksldjump"/>
              </a:rPr>
              <a:t>Click here </a:t>
            </a:r>
            <a:r>
              <a:rPr lang="en-US" altLang="en-US" sz="1200"/>
              <a:t>to contact the experts!</a:t>
            </a:r>
          </a:p>
        </p:txBody>
      </p:sp>
      <p:sp>
        <p:nvSpPr>
          <p:cNvPr id="23" name="Rectangle 22">
            <a:hlinkClick r:id="rId8" action="ppaction://hlinksldjump"/>
            <a:extLst>
              <a:ext uri="{FF2B5EF4-FFF2-40B4-BE49-F238E27FC236}">
                <a16:creationId xmlns:a16="http://schemas.microsoft.com/office/drawing/2014/main" id="{FB9FFAD6-6F48-2048-15E9-5B13FECF009A}"/>
              </a:ext>
            </a:extLst>
          </p:cNvPr>
          <p:cNvSpPr/>
          <p:nvPr/>
        </p:nvSpPr>
        <p:spPr>
          <a:xfrm>
            <a:off x="5699125" y="1868488"/>
            <a:ext cx="2368550" cy="29495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20501" name="Picture 24" descr="A set of icons of Facebook, Instagram, Twitter(X) and Discord">
            <a:extLst>
              <a:ext uri="{FF2B5EF4-FFF2-40B4-BE49-F238E27FC236}">
                <a16:creationId xmlns:a16="http://schemas.microsoft.com/office/drawing/2014/main" id="{FBFBB4DA-D585-F478-80DF-9284880FA4E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6400" y="4953000"/>
            <a:ext cx="397510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a:hlinkClick r:id="rId11"/>
            <a:extLst>
              <a:ext uri="{FF2B5EF4-FFF2-40B4-BE49-F238E27FC236}">
                <a16:creationId xmlns:a16="http://schemas.microsoft.com/office/drawing/2014/main" id="{269A6288-263C-1FA0-C18B-AAB274AE064F}"/>
              </a:ext>
            </a:extLst>
          </p:cNvPr>
          <p:cNvSpPr/>
          <p:nvPr/>
        </p:nvSpPr>
        <p:spPr>
          <a:xfrm>
            <a:off x="481013" y="5059363"/>
            <a:ext cx="900112" cy="777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7" name="Rectangle 26">
            <a:hlinkClick r:id="rId12"/>
            <a:extLst>
              <a:ext uri="{FF2B5EF4-FFF2-40B4-BE49-F238E27FC236}">
                <a16:creationId xmlns:a16="http://schemas.microsoft.com/office/drawing/2014/main" id="{3AC0E240-0D78-CE13-4069-C7FD80847AB3}"/>
              </a:ext>
            </a:extLst>
          </p:cNvPr>
          <p:cNvSpPr/>
          <p:nvPr/>
        </p:nvSpPr>
        <p:spPr>
          <a:xfrm>
            <a:off x="1484313" y="5059363"/>
            <a:ext cx="901700" cy="777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a:hlinkClick r:id="rId13"/>
            <a:extLst>
              <a:ext uri="{FF2B5EF4-FFF2-40B4-BE49-F238E27FC236}">
                <a16:creationId xmlns:a16="http://schemas.microsoft.com/office/drawing/2014/main" id="{5D15D85B-643C-3598-5A11-36317C306A2B}"/>
              </a:ext>
            </a:extLst>
          </p:cNvPr>
          <p:cNvSpPr/>
          <p:nvPr/>
        </p:nvSpPr>
        <p:spPr>
          <a:xfrm>
            <a:off x="2487613" y="5043488"/>
            <a:ext cx="849312" cy="7937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9" name="Rectangle 28">
            <a:hlinkClick r:id="rId14"/>
            <a:extLst>
              <a:ext uri="{FF2B5EF4-FFF2-40B4-BE49-F238E27FC236}">
                <a16:creationId xmlns:a16="http://schemas.microsoft.com/office/drawing/2014/main" id="{696CC1E1-03A7-E49E-1AF8-752ABF37EB09}"/>
              </a:ext>
            </a:extLst>
          </p:cNvPr>
          <p:cNvSpPr/>
          <p:nvPr/>
        </p:nvSpPr>
        <p:spPr>
          <a:xfrm>
            <a:off x="3444875" y="5043488"/>
            <a:ext cx="892175" cy="7937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22904</TotalTime>
  <Words>1899</Words>
  <Application>Microsoft Office PowerPoint</Application>
  <PresentationFormat>Widescreen</PresentationFormat>
  <Paragraphs>97</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Calibri Light</vt:lpstr>
      <vt:lpstr>Century Gothic</vt:lpstr>
      <vt:lpstr>Lucida Calligraphy</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Jenna Gordon</dc:creator>
  <cp:lastModifiedBy>Jenna Gordon</cp:lastModifiedBy>
  <cp:revision>42</cp:revision>
  <dcterms:created xsi:type="dcterms:W3CDTF">2024-05-05T22:48:04Z</dcterms:created>
  <dcterms:modified xsi:type="dcterms:W3CDTF">2026-02-27T12:34:31Z</dcterms:modified>
</cp:coreProperties>
</file>